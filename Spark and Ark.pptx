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embeddedFontLst>
    <p:embeddedFont>
      <p:font typeface="Wix Madefor Text"/>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xmlns="" Id="rId23" Type="http://schemas.openxmlformats.org/officeDocument/2006/relationships/font" Target="fonts/rId2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been deep down the rabbit hole of both Spark and Ark looking for the best way to bring user-friendly, non-custodial Lightning to Cake Wallet users. This talk is the distilled version of that research - what these protocols actually are, who you're trusting, and what your privacy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Lightning forced a choice. Run it yourself: inbound liquidity, channel management, being always online - next to impossible on a phone, especially iOS. Or hand your keys to a custodian and get great UX that isn't bitcoin anymore. Lightning's biggest realization: its best role is connecting things together - plumbing - not being run directly by your grandma on her phone. Spark and Ark exist to break this tradeoff: self-custodial payments with custodial-grade UX, and both intend to go well beyond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for the whole talk: 'Ark' is not one network. Arkade and Bark share a protocol ancestor but have diverged in terminology, mechanisms, and shipping status - though as of June 9, 2026 BOTH are now live on mainnet. Spark is a different beast entirely - statechain lineage, not Ark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vocabulary, then we're done with definitions. Ark: virtualized UTXOs with an operator in the middle and an expiry clock - those two facts drive every tradeoff coming up. Spark: statechains 101 - a 2-of-2 between you and the operators, transferred by re-tweaking the operators' key and deleting the old share; leaves mean you're not stuck transferring whole UTXOs. Note the operator set grew from 2 to 3 since my article (Breez joined Lightspark and Flashnet). Double-spending requires operators retaining old keys AND collusion with a previous sender - both have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Receivers control their own trust model - that's the elegant part. Small coffee payment? Accept it out-of-round and move on. Just got paid your salary? Join a round and get on-chain finality. The round costs time (operator-dependent cadence, minutes to hours) and a fee, but it's AVAILABLE - remember this for the Spark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ancestor, genuinely different projects now - and as of June 2026 both are on mainnet. Arkade has even deprecated half the original Ark vocabulary. Ark Labs is going broad - smart contracts, assets, an execution environment. Second is going deep on doing payments extremely well, shipping the Bark SDK, Barkd daemon, and day-one app integrations. Don't let anyone tell you 'Ark does X' without asking WHICH 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Spark's pragmatism shows here: no rounds, no liveness requirements, offline receive that actually works on iOS. Emphasize the sender is an active participant - this is a co-signing protocol, not operators shuffling funds on their own. The price: you can never PROVE the old key was deleted. Security holds if an operator deleted or the previous sender is honest - but it's faith-based, not provable. We'll dig into that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Ark's biggest UX wart lives, and both teams know it. Arkade's delegation is the most complete answer shipped today: multiple delegates, 1-of-N honest is enough, delegates can't steal or alter anything. Second's hArk removed the 'everyone online at once' requirement, but their trust-minimized co-signer set is explicitly post-mainnet. And the honest punchline: a covenant soft fork (CTV/TEMPLATEHASH) would make most of this complexity evaporate.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way I've found to put it: in Ark, finality is AVAILABLE but interactive. In Spark, finality is ASSUMED but unprovable. For everyday amounts, Spark's assumption across Lightspark, Breez, and Flashnet is honestly reasonable. For life savings, 'trust me, I deleted it' is not a security model - and Spark themselves are candid about this in their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VPN analogy is the one to land: off-chain does not mean private; it just moves visibility from the public blockchain to a third party who promises (or doesn't) to behave. Today: Spark's Privacy Mode (default in Cake, now Wallet of Satoshi) keeps history off public explorers, but it's visibility filtering by operators, not cryptography. Looking forward: neither Ark implementation has firmly proposed privacy tech - the blinded-credential ideas from 2025 never entered Arkade's docs, and Second has nothing on the roadmap (covenants could unlock private rounds someday). Spark is the only one with announced privacy work: confidential amounts on token transfers and blind signing - announced Sept 2025, still WIP, not yet in their docs (their docs privacy page is literally an empty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scenario that actually matters - not the protocol whitepaper's idealized always-online user. ~99% of users look like Alice. Walk through each system from her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Alice on Ark holds real, exit-enforceable coins with a maintenance requirement - like a garden that needs watering, and she can hire multiple gardeners who are physically unable to steal the vegetables. Bark just went live on mainnet (June 9, 2026) alongside the SDK, Barkd, and several apps (Noah, Arke, Satsigner, Bark Wallet, a BTCPay plugin). The finality caveat holds: nothing a delegate does gives her true finality; that always requires her own participation. Bark exit math: log4 tree, e.g. a 256-user round = 5 txs, plus ~10h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made Alice's daily life easiest and her sovereignty haziest. Offline receive and zero maintenance are exactly what mobile needs. But her safety rests on unverifiable deletion by 3 permissioned companies plus honest previous senders, and her practical ability to exit unilaterally is limited today - though in-app unilateral exit is on its way, which will close a real gap. Privacy in practice is decent now that major wallets ship with Privacy Mode on - but it's the VPN model, not cryptographic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all the way out. Nothing here is binary - custody is a spectrum, and every project on this slide is a different point on it. Ark and Spark sit closer to the self-custodial end than almost anything else that gives you this UX - that's the achievement. But don't confuse them with on-chain Bitcoin, and don't let anyone sell them as equivalent to a custodian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optimistic note from the article's conclusion: neither is perfect, both are pragmatic, and wallet developers finally have real options that don't force custodial Lightning. The tradeoffs are real but improving fast - these are rapidly evolving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74358" t="0" b="61623"/>
          <a:stretch/>
        </p:blipFill>
        <p:spPr>
          <a:xfrm>
            <a:off x="-5934075" y="323816"/>
            <a:ext cx="2564721" cy="3698161"/>
          </a:xfrm>
          <a:prstGeom prst="rect">
            <a:avLst/>
          </a:prstGeom>
        </p:spPr>
      </p:pic>
      <p:pic>
        <p:nvPicPr>
          <p:cNvPr id="4" name="Image 1" descr="preencoded.png">    </p:cNvPr>
          <p:cNvPicPr>
            <a:picLocks noChangeAspect="1"/>
          </p:cNvPicPr>
          <p:nvPr/>
        </p:nvPicPr>
        <p:blipFill>
          <a:blip r:embed="rId2"/>
          <a:srcRect l="0" r="43204" t="0" b="46625"/>
          <a:stretch/>
        </p:blipFill>
        <p:spPr>
          <a:xfrm>
            <a:off x="1338263" y="-1733551"/>
            <a:ext cx="5680672" cy="5143500"/>
          </a:xfrm>
          <a:prstGeom prst="rect">
            <a:avLst/>
          </a:prstGeom>
        </p:spPr>
      </p:pic>
      <p:pic>
        <p:nvPicPr>
          <p:cNvPr id="5" name="Image 2" descr="preencoded.png">    </p:cNvPr>
          <p:cNvPicPr>
            <a:picLocks noChangeAspect="1"/>
          </p:cNvPicPr>
          <p:nvPr/>
        </p:nvPicPr>
        <p:blipFill>
          <a:blip r:embed="rId3"/>
          <a:srcRect l="0" r="0" t="0" b="0"/>
          <a:stretch/>
        </p:blipFill>
        <p:spPr>
          <a:xfrm>
            <a:off x="0" y="0"/>
            <a:ext cx="9144000" cy="5143500"/>
          </a:xfrm>
          <a:prstGeom prst="rect">
            <a:avLst/>
          </a:prstGeom>
        </p:spPr>
      </p:pic>
      <p:pic>
        <p:nvPicPr>
          <p:cNvPr id="6" name="Image 3" descr="preencoded.png">    </p:cNvPr>
          <p:cNvPicPr>
            <a:picLocks noChangeAspect="1"/>
          </p:cNvPicPr>
          <p:nvPr/>
        </p:nvPicPr>
        <p:blipFill>
          <a:blip r:embed="rId4"/>
          <a:srcRect l="0" r="0" t="0" b="0"/>
          <a:stretch/>
        </p:blipFill>
        <p:spPr>
          <a:xfrm>
            <a:off x="2667000" y="1328738"/>
            <a:ext cx="3810000" cy="952500"/>
          </a:xfrm>
          <a:prstGeom prst="rect">
            <a:avLst/>
          </a:prstGeom>
        </p:spPr>
      </p:pic>
      <p:sp>
        <p:nvSpPr>
          <p:cNvPr id="7" name="Text 0"/>
          <p:cNvSpPr/>
          <p:nvPr/>
        </p:nvSpPr>
        <p:spPr>
          <a:xfrm>
            <a:off x="476250" y="2805113"/>
            <a:ext cx="8191500" cy="1009650"/>
          </a:xfrm>
          <a:prstGeom prst="rect">
            <a:avLst/>
          </a:prstGeom>
          <a:noFill/>
          <a:ln/>
        </p:spPr>
        <p:txBody>
          <a:bodyPr wrap="square" lIns="0" tIns="0" rIns="0" bIns="0" rtlCol="0" anchor="t"/>
          <a:lstStyle/>
          <a:p>
            <a:pPr algn="ctr" indent="0" marL="0">
              <a:lnSpc>
                <a:spcPts val="3771"/>
              </a:lnSpc>
              <a:buNone/>
            </a:pPr>
            <a:r>
              <a:rPr lang="en-US" sz="2992" dirty="0">
                <a:solidFill>
                  <a:srgbClr val="312938">
                    <a:alpha val="99000"/>
                  </a:srgbClr>
                </a:solidFill>
                <a:latin typeface="Wix Madefor Text" pitchFamily="34" charset="0"/>
                <a:ea typeface="Wix Madefor Text" pitchFamily="34" charset="-122"/>
                <a:cs typeface="Wix Madefor Text" pitchFamily="34" charset="-120"/>
              </a:rPr>
              <a:t>Spark and Ark:</a:t>
            </a:r>
            <a:endParaRPr lang="en-US" sz="2992" dirty="0"/>
          </a:p>
          <a:p>
            <a:pPr algn="ctr" indent="0" marL="0">
              <a:lnSpc>
                <a:spcPts val="3771"/>
              </a:lnSpc>
              <a:buNone/>
            </a:pPr>
            <a:r>
              <a:rPr lang="en-US" sz="2992" dirty="0">
                <a:solidFill>
                  <a:srgbClr val="312938">
                    <a:alpha val="99000"/>
                  </a:srgbClr>
                </a:solidFill>
                <a:latin typeface="Wix Madefor Text" pitchFamily="34" charset="0"/>
                <a:ea typeface="Wix Madefor Text" pitchFamily="34" charset="-122"/>
                <a:cs typeface="Wix Madefor Text" pitchFamily="34" charset="-120"/>
              </a:rPr>
              <a:t>the good, the bad, and the ugly</a:t>
            </a:r>
            <a:endParaRPr lang="en-US" sz="299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510088"/>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Why do we need new layer twos?</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sp>
        <p:nvSpPr>
          <p:cNvPr id="7" name="Shape 4"/>
          <p:cNvSpPr/>
          <p:nvPr/>
        </p:nvSpPr>
        <p:spPr>
          <a:xfrm>
            <a:off x="571500" y="2047875"/>
            <a:ext cx="3619500" cy="1657350"/>
          </a:xfrm>
          <a:prstGeom prst="roundRect">
            <a:avLst>
              <a:gd name="adj" fmla="val 11034"/>
            </a:avLst>
          </a:prstGeom>
          <a:solidFill>
            <a:srgbClr val="FFFFFF">
              <a:alpha val="65000"/>
            </a:srgbClr>
          </a:solidFill>
          <a:ln w="9049">
            <a:solidFill>
              <a:srgbClr val="312938">
                <a:alpha val="15000"/>
              </a:srgbClr>
            </a:solidFill>
            <a:prstDash val="solid"/>
          </a:ln>
        </p:spPr>
      </p:sp>
      <p:sp>
        <p:nvSpPr>
          <p:cNvPr id="8" name="Text 5"/>
          <p:cNvSpPr/>
          <p:nvPr/>
        </p:nvSpPr>
        <p:spPr>
          <a:xfrm>
            <a:off x="762000" y="2200275"/>
            <a:ext cx="3238500" cy="228600"/>
          </a:xfrm>
          <a:prstGeom prst="rect">
            <a:avLst/>
          </a:prstGeom>
          <a:noFill/>
          <a:ln/>
        </p:spPr>
        <p:txBody>
          <a:bodyPr wrap="square" lIns="0" tIns="0" rIns="0" bIns="0" rtlCol="0" anchor="t"/>
          <a:lstStyle/>
          <a:p>
            <a:pPr algn="l" indent="0" marL="0">
              <a:lnSpc>
                <a:spcPts val="1706"/>
              </a:lnSpc>
              <a:buNone/>
            </a:pPr>
            <a:r>
              <a:rPr lang="en-US" sz="1354" b="1" dirty="0">
                <a:solidFill>
                  <a:srgbClr val="312938">
                    <a:alpha val="99000"/>
                  </a:srgbClr>
                </a:solidFill>
                <a:latin typeface="Wix Madefor Text" pitchFamily="34" charset="0"/>
                <a:ea typeface="Wix Madefor Text" pitchFamily="34" charset="-122"/>
                <a:cs typeface="Wix Madefor Text" pitchFamily="34" charset="-120"/>
              </a:rPr>
              <a:t>Run Lightning yourself…</a:t>
            </a:r>
            <a:endParaRPr lang="en-US" sz="1354" dirty="0"/>
          </a:p>
        </p:txBody>
      </p:sp>
      <p:sp>
        <p:nvSpPr>
          <p:cNvPr id="9" name="Text 6"/>
          <p:cNvSpPr/>
          <p:nvPr/>
        </p:nvSpPr>
        <p:spPr>
          <a:xfrm>
            <a:off x="762000" y="2524125"/>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Inbound liquidity gymnastics</a:t>
            </a:r>
            <a:endParaRPr lang="en-US" sz="1069" dirty="0"/>
          </a:p>
        </p:txBody>
      </p:sp>
      <p:sp>
        <p:nvSpPr>
          <p:cNvPr id="10" name="Text 7"/>
          <p:cNvSpPr/>
          <p:nvPr/>
        </p:nvSpPr>
        <p:spPr>
          <a:xfrm>
            <a:off x="762000" y="2800350"/>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Always-online requirement</a:t>
            </a:r>
            <a:endParaRPr lang="en-US" sz="1069" dirty="0"/>
          </a:p>
        </p:txBody>
      </p:sp>
      <p:sp>
        <p:nvSpPr>
          <p:cNvPr id="11" name="Text 8"/>
          <p:cNvSpPr/>
          <p:nvPr/>
        </p:nvSpPr>
        <p:spPr>
          <a:xfrm>
            <a:off x="762000" y="3076575"/>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Channel management on a phone</a:t>
            </a:r>
            <a:endParaRPr lang="en-US" sz="1069" dirty="0"/>
          </a:p>
        </p:txBody>
      </p:sp>
      <p:sp>
        <p:nvSpPr>
          <p:cNvPr id="12" name="Text 9"/>
          <p:cNvSpPr/>
          <p:nvPr/>
        </p:nvSpPr>
        <p:spPr>
          <a:xfrm>
            <a:off x="762000" y="3352800"/>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On-chain fees for every channel</a:t>
            </a:r>
            <a:endParaRPr lang="en-US" sz="1069" dirty="0"/>
          </a:p>
        </p:txBody>
      </p:sp>
      <p:sp>
        <p:nvSpPr>
          <p:cNvPr id="13" name="Shape 10"/>
          <p:cNvSpPr/>
          <p:nvPr/>
        </p:nvSpPr>
        <p:spPr>
          <a:xfrm>
            <a:off x="4953000" y="2047875"/>
            <a:ext cx="3619500" cy="1657350"/>
          </a:xfrm>
          <a:prstGeom prst="roundRect">
            <a:avLst>
              <a:gd name="adj" fmla="val 11034"/>
            </a:avLst>
          </a:prstGeom>
          <a:solidFill>
            <a:srgbClr val="FFFFFF">
              <a:alpha val="65000"/>
            </a:srgbClr>
          </a:solidFill>
          <a:ln w="9049">
            <a:solidFill>
              <a:srgbClr val="312938">
                <a:alpha val="15000"/>
              </a:srgbClr>
            </a:solidFill>
            <a:prstDash val="solid"/>
          </a:ln>
        </p:spPr>
      </p:sp>
      <p:sp>
        <p:nvSpPr>
          <p:cNvPr id="14" name="Text 11"/>
          <p:cNvSpPr/>
          <p:nvPr/>
        </p:nvSpPr>
        <p:spPr>
          <a:xfrm>
            <a:off x="5143500" y="2200275"/>
            <a:ext cx="3238500" cy="228600"/>
          </a:xfrm>
          <a:prstGeom prst="rect">
            <a:avLst/>
          </a:prstGeom>
          <a:noFill/>
          <a:ln/>
        </p:spPr>
        <p:txBody>
          <a:bodyPr wrap="square" lIns="0" tIns="0" rIns="0" bIns="0" rtlCol="0" anchor="t"/>
          <a:lstStyle/>
          <a:p>
            <a:pPr algn="l" indent="0" marL="0">
              <a:lnSpc>
                <a:spcPts val="1706"/>
              </a:lnSpc>
              <a:buNone/>
            </a:pPr>
            <a:r>
              <a:rPr lang="en-US" sz="1354" b="1" dirty="0">
                <a:solidFill>
                  <a:srgbClr val="312938">
                    <a:alpha val="99000"/>
                  </a:srgbClr>
                </a:solidFill>
                <a:latin typeface="Wix Madefor Text" pitchFamily="34" charset="0"/>
                <a:ea typeface="Wix Madefor Text" pitchFamily="34" charset="-122"/>
                <a:cs typeface="Wix Madefor Text" pitchFamily="34" charset="-120"/>
              </a:rPr>
              <a:t>…or hand over your keys</a:t>
            </a:r>
            <a:endParaRPr lang="en-US" sz="1354" dirty="0"/>
          </a:p>
        </p:txBody>
      </p:sp>
      <p:sp>
        <p:nvSpPr>
          <p:cNvPr id="15" name="Text 12"/>
          <p:cNvSpPr/>
          <p:nvPr/>
        </p:nvSpPr>
        <p:spPr>
          <a:xfrm>
            <a:off x="5143500" y="2524125"/>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Custodial “Lightning” wallets</a:t>
            </a:r>
            <a:endParaRPr lang="en-US" sz="1069" dirty="0"/>
          </a:p>
        </p:txBody>
      </p:sp>
      <p:sp>
        <p:nvSpPr>
          <p:cNvPr id="16" name="Text 13"/>
          <p:cNvSpPr/>
          <p:nvPr/>
        </p:nvSpPr>
        <p:spPr>
          <a:xfrm>
            <a:off x="5143500" y="2800350"/>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Their keys, their rules</a:t>
            </a:r>
            <a:endParaRPr lang="en-US" sz="1069" dirty="0"/>
          </a:p>
        </p:txBody>
      </p:sp>
      <p:sp>
        <p:nvSpPr>
          <p:cNvPr id="17" name="Text 14"/>
          <p:cNvSpPr/>
          <p:nvPr/>
        </p:nvSpPr>
        <p:spPr>
          <a:xfrm>
            <a:off x="5143500" y="3076575"/>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Censorship and seizure risk</a:t>
            </a:r>
            <a:endParaRPr lang="en-US" sz="1069" dirty="0"/>
          </a:p>
        </p:txBody>
      </p:sp>
      <p:sp>
        <p:nvSpPr>
          <p:cNvPr id="18" name="Text 15"/>
          <p:cNvSpPr/>
          <p:nvPr/>
        </p:nvSpPr>
        <p:spPr>
          <a:xfrm>
            <a:off x="5143500" y="3352800"/>
            <a:ext cx="3238500" cy="18097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  Not bitcoin — an IOU</a:t>
            </a:r>
            <a:endParaRPr lang="en-US" sz="1069" dirty="0"/>
          </a:p>
        </p:txBody>
      </p:sp>
      <p:sp>
        <p:nvSpPr>
          <p:cNvPr id="19" name="Shape 16"/>
          <p:cNvSpPr/>
          <p:nvPr/>
        </p:nvSpPr>
        <p:spPr>
          <a:xfrm>
            <a:off x="4343400" y="2667000"/>
            <a:ext cx="457200" cy="457200"/>
          </a:xfrm>
          <a:prstGeom prst="ellipse">
            <a:avLst/>
          </a:prstGeom>
          <a:solidFill>
            <a:srgbClr val="312938"/>
          </a:solidFill>
          <a:ln/>
        </p:spPr>
      </p:sp>
      <p:sp>
        <p:nvSpPr>
          <p:cNvPr id="20" name="Text 17"/>
          <p:cNvSpPr/>
          <p:nvPr/>
        </p:nvSpPr>
        <p:spPr>
          <a:xfrm>
            <a:off x="4479131" y="2781300"/>
            <a:ext cx="185738" cy="228600"/>
          </a:xfrm>
          <a:prstGeom prst="rect">
            <a:avLst/>
          </a:prstGeom>
          <a:noFill/>
          <a:ln/>
        </p:spPr>
        <p:txBody>
          <a:bodyPr wrap="square" lIns="0" tIns="0" rIns="0" bIns="0" rtlCol="0" anchor="t"/>
          <a:lstStyle/>
          <a:p>
            <a:pPr algn="l" indent="0" marL="0">
              <a:lnSpc>
                <a:spcPts val="1706"/>
              </a:lnSpc>
              <a:buNone/>
            </a:pPr>
            <a:r>
              <a:rPr lang="en-US" sz="1354" b="1" dirty="0">
                <a:solidFill>
                  <a:srgbClr val="FFFFFF">
                    <a:alpha val="99000"/>
                  </a:srgbClr>
                </a:solidFill>
                <a:latin typeface="Wix Madefor Text" pitchFamily="34" charset="0"/>
                <a:ea typeface="Wix Madefor Text" pitchFamily="34" charset="-122"/>
                <a:cs typeface="Wix Madefor Text" pitchFamily="34" charset="-120"/>
              </a:rPr>
              <a:t>or</a:t>
            </a:r>
            <a:endParaRPr lang="en-US" sz="1354" dirty="0"/>
          </a:p>
        </p:txBody>
      </p:sp>
      <p:sp>
        <p:nvSpPr>
          <p:cNvPr id="21" name="Shape 18"/>
          <p:cNvSpPr/>
          <p:nvPr/>
        </p:nvSpPr>
        <p:spPr>
          <a:xfrm>
            <a:off x="571500" y="3952875"/>
            <a:ext cx="8001000" cy="452438"/>
          </a:xfrm>
          <a:prstGeom prst="roundRect">
            <a:avLst>
              <a:gd name="adj" fmla="val 40421"/>
            </a:avLst>
          </a:prstGeom>
          <a:solidFill>
            <a:srgbClr val="312938"/>
          </a:solidFill>
          <a:ln/>
        </p:spPr>
      </p:sp>
      <p:sp>
        <p:nvSpPr>
          <p:cNvPr id="22" name="Text 19"/>
          <p:cNvSpPr/>
          <p:nvPr/>
        </p:nvSpPr>
        <p:spPr>
          <a:xfrm>
            <a:off x="800100" y="4076700"/>
            <a:ext cx="7620000" cy="204788"/>
          </a:xfrm>
          <a:prstGeom prst="rect">
            <a:avLst/>
          </a:prstGeom>
          <a:noFill/>
          <a:ln/>
        </p:spPr>
        <p:txBody>
          <a:bodyPr wrap="square" lIns="0" tIns="0" rIns="0" bIns="0" rtlCol="0" anchor="t"/>
          <a:lstStyle/>
          <a:p>
            <a:pPr algn="ctr" indent="0" marL="0">
              <a:lnSpc>
                <a:spcPts val="1526"/>
              </a:lnSpc>
              <a:buNone/>
            </a:pPr>
            <a:r>
              <a:rPr lang="en-US" sz="1211" b="1" dirty="0">
                <a:solidFill>
                  <a:srgbClr val="FFFFFF">
                    <a:alpha val="99000"/>
                  </a:srgbClr>
                </a:solidFill>
                <a:latin typeface="Wix Madefor Text" pitchFamily="34" charset="0"/>
                <a:ea typeface="Wix Madefor Text" pitchFamily="34" charset="-122"/>
                <a:cs typeface="Wix Madefor Text" pitchFamily="34" charset="-120"/>
              </a:rPr>
              <a:t>Spark and Ark are the first credible attempts to break this tradeoff</a:t>
            </a:r>
            <a:endParaRPr lang="en-US" sz="1211" dirty="0"/>
          </a:p>
        </p:txBody>
      </p:sp>
      <p:sp>
        <p:nvSpPr>
          <p:cNvPr id="23" name="Shape 20"/>
          <p:cNvSpPr/>
          <p:nvPr/>
        </p:nvSpPr>
        <p:spPr>
          <a:xfrm>
            <a:off x="0" y="0"/>
            <a:ext cx="9144000" cy="595313"/>
          </a:xfrm>
          <a:prstGeom prst="rect">
            <a:avLst/>
          </a:prstGeom>
          <a:noFill/>
          <a:ln/>
        </p:spPr>
      </p:sp>
      <p:sp>
        <p:nvSpPr>
          <p:cNvPr id="24" name="Shape 21"/>
          <p:cNvSpPr/>
          <p:nvPr/>
        </p:nvSpPr>
        <p:spPr>
          <a:xfrm>
            <a:off x="238125" y="238125"/>
            <a:ext cx="8667750" cy="357188"/>
          </a:xfrm>
          <a:prstGeom prst="rect">
            <a:avLst/>
          </a:prstGeom>
          <a:noFill/>
          <a:ln/>
        </p:spPr>
      </p:sp>
      <p:pic>
        <p:nvPicPr>
          <p:cNvPr id="25"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081463"/>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962025"/>
          </a:xfrm>
          <a:prstGeom prst="rect">
            <a:avLst/>
          </a:prstGeom>
          <a:noFill/>
          <a:ln/>
        </p:spPr>
        <p:txBody>
          <a:bodyPr wrap="square" lIns="0" tIns="0" rIns="0" bIns="0" rtlCol="0" anchor="t"/>
          <a:lstStyle/>
          <a:p>
            <a:pPr algn="l"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The contenders</a:t>
            </a:r>
            <a:endParaRPr lang="en-US" sz="5700" dirty="0"/>
          </a:p>
        </p:txBody>
      </p:sp>
      <p:sp>
        <p:nvSpPr>
          <p:cNvPr id="6" name="Shape 3"/>
          <p:cNvSpPr/>
          <p:nvPr/>
        </p:nvSpPr>
        <p:spPr>
          <a:xfrm>
            <a:off x="238125" y="1652588"/>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238125" y="1938337"/>
            <a:ext cx="6905625" cy="2143125"/>
          </a:xfrm>
          <a:prstGeom prst="rect">
            <a:avLst/>
          </a:prstGeom>
        </p:spPr>
      </p:pic>
      <p:sp>
        <p:nvSpPr>
          <p:cNvPr id="8" name="Shape 4"/>
          <p:cNvSpPr/>
          <p:nvPr/>
        </p:nvSpPr>
        <p:spPr>
          <a:xfrm>
            <a:off x="0" y="0"/>
            <a:ext cx="9144000" cy="595313"/>
          </a:xfrm>
          <a:prstGeom prst="rect">
            <a:avLst/>
          </a:prstGeom>
          <a:noFill/>
          <a:ln/>
        </p:spPr>
      </p:sp>
      <p:sp>
        <p:nvSpPr>
          <p:cNvPr id="9" name="Shape 5"/>
          <p:cNvSpPr/>
          <p:nvPr/>
        </p:nvSpPr>
        <p:spPr>
          <a:xfrm>
            <a:off x="238125" y="238125"/>
            <a:ext cx="8667750" cy="357188"/>
          </a:xfrm>
          <a:prstGeom prst="rect">
            <a:avLst/>
          </a:prstGeom>
          <a:noFill/>
          <a:ln/>
        </p:spPr>
      </p:sp>
      <p:pic>
        <p:nvPicPr>
          <p:cNvPr id="10"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510088"/>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962025"/>
          </a:xfrm>
          <a:prstGeom prst="rect">
            <a:avLst/>
          </a:prstGeom>
          <a:noFill/>
          <a:ln/>
        </p:spPr>
        <p:txBody>
          <a:bodyPr wrap="square" lIns="0" tIns="0" rIns="0" bIns="0" rtlCol="0" anchor="t"/>
          <a:lstStyle/>
          <a:p>
            <a:pPr algn="l"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Key terms</a:t>
            </a:r>
            <a:endParaRPr lang="en-US" sz="5700" dirty="0"/>
          </a:p>
        </p:txBody>
      </p:sp>
      <p:sp>
        <p:nvSpPr>
          <p:cNvPr id="6" name="Shape 3"/>
          <p:cNvSpPr/>
          <p:nvPr/>
        </p:nvSpPr>
        <p:spPr>
          <a:xfrm>
            <a:off x="238125" y="1652588"/>
            <a:ext cx="8667750" cy="238125"/>
          </a:xfrm>
          <a:prstGeom prst="rect">
            <a:avLst/>
          </a:prstGeom>
          <a:solidFill>
            <a:srgbClr val="D9D9D9">
              <a:alpha val="0"/>
            </a:srgbClr>
          </a:solidFill>
          <a:ln/>
        </p:spPr>
      </p:sp>
      <p:sp>
        <p:nvSpPr>
          <p:cNvPr id="7" name="Shape 4"/>
          <p:cNvSpPr/>
          <p:nvPr/>
        </p:nvSpPr>
        <p:spPr>
          <a:xfrm>
            <a:off x="571500" y="2095500"/>
            <a:ext cx="4000500" cy="2124075"/>
          </a:xfrm>
          <a:prstGeom prst="roundRect">
            <a:avLst>
              <a:gd name="adj" fmla="val 8610"/>
            </a:avLst>
          </a:prstGeom>
          <a:solidFill>
            <a:srgbClr val="FFFFFF">
              <a:alpha val="65000"/>
            </a:srgbClr>
          </a:solidFill>
          <a:ln w="9049">
            <a:solidFill>
              <a:srgbClr val="312938">
                <a:alpha val="15000"/>
              </a:srgbClr>
            </a:solidFill>
            <a:prstDash val="solid"/>
          </a:ln>
        </p:spPr>
      </p:sp>
      <p:sp>
        <p:nvSpPr>
          <p:cNvPr id="8" name="Text 5"/>
          <p:cNvSpPr/>
          <p:nvPr/>
        </p:nvSpPr>
        <p:spPr>
          <a:xfrm>
            <a:off x="762000" y="2247900"/>
            <a:ext cx="3619500" cy="238125"/>
          </a:xfrm>
          <a:prstGeom prst="rect">
            <a:avLst/>
          </a:prstGeom>
          <a:noFill/>
          <a:ln/>
        </p:spPr>
        <p:txBody>
          <a:bodyPr wrap="square" lIns="0" tIns="0" rIns="0" bIns="0" rtlCol="0" anchor="t"/>
          <a:lstStyle/>
          <a:p>
            <a:pPr algn="l" indent="0" marL="0">
              <a:lnSpc>
                <a:spcPts val="1796"/>
              </a:lnSpc>
              <a:buNone/>
            </a:pPr>
            <a:r>
              <a:rPr lang="en-US" sz="1425" b="1" dirty="0">
                <a:solidFill>
                  <a:srgbClr val="312938">
                    <a:alpha val="99000"/>
                  </a:srgbClr>
                </a:solidFill>
                <a:latin typeface="Wix Madefor Text" pitchFamily="34" charset="0"/>
                <a:ea typeface="Wix Madefor Text" pitchFamily="34" charset="-122"/>
                <a:cs typeface="Wix Madefor Text" pitchFamily="34" charset="-120"/>
              </a:rPr>
              <a:t>Ark speak</a:t>
            </a:r>
            <a:endParaRPr lang="en-US" sz="1425" dirty="0"/>
          </a:p>
        </p:txBody>
      </p:sp>
      <p:sp>
        <p:nvSpPr>
          <p:cNvPr id="9" name="Text 6"/>
          <p:cNvSpPr/>
          <p:nvPr/>
        </p:nvSpPr>
        <p:spPr>
          <a:xfrm>
            <a:off x="762000" y="2571750"/>
            <a:ext cx="3619500" cy="161925"/>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VTXO</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a Bitcoin UTXO that lives off-chain</a:t>
            </a:r>
            <a:endParaRPr lang="en-US" sz="962" dirty="0"/>
          </a:p>
        </p:txBody>
      </p:sp>
      <p:sp>
        <p:nvSpPr>
          <p:cNvPr id="10" name="Text 7"/>
          <p:cNvSpPr/>
          <p:nvPr/>
        </p:nvSpPr>
        <p:spPr>
          <a:xfrm>
            <a:off x="762000" y="2819400"/>
            <a:ext cx="3619500" cy="161925"/>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Operator</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co-signs everything, fronts the liquidity</a:t>
            </a:r>
            <a:endParaRPr lang="en-US" sz="962" dirty="0"/>
          </a:p>
        </p:txBody>
      </p:sp>
      <p:sp>
        <p:nvSpPr>
          <p:cNvPr id="11" name="Text 8"/>
          <p:cNvSpPr/>
          <p:nvPr/>
        </p:nvSpPr>
        <p:spPr>
          <a:xfrm>
            <a:off x="762000" y="3067050"/>
            <a:ext cx="3619500" cy="323850"/>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Round / batch swap</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trade VTXOs for </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new</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ones</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fully</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anchored on-chain</a:t>
            </a:r>
            <a:endParaRPr lang="en-US" sz="962" dirty="0"/>
          </a:p>
        </p:txBody>
      </p:sp>
      <p:sp>
        <p:nvSpPr>
          <p:cNvPr id="12" name="Text 9"/>
          <p:cNvSpPr/>
          <p:nvPr/>
        </p:nvSpPr>
        <p:spPr>
          <a:xfrm>
            <a:off x="762000" y="3476625"/>
            <a:ext cx="3619500" cy="323850"/>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Expiry</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refresh ~monthly or the operator can sweep your coins</a:t>
            </a:r>
            <a:endParaRPr lang="en-US" sz="962" dirty="0"/>
          </a:p>
        </p:txBody>
      </p:sp>
      <p:sp>
        <p:nvSpPr>
          <p:cNvPr id="13" name="Text 10"/>
          <p:cNvSpPr/>
          <p:nvPr/>
        </p:nvSpPr>
        <p:spPr>
          <a:xfrm>
            <a:off x="762000" y="3886200"/>
            <a:ext cx="3619500" cy="161925"/>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Out-of-round</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instant payment; trust-minimized, not final</a:t>
            </a:r>
            <a:endParaRPr lang="en-US" sz="962" dirty="0"/>
          </a:p>
        </p:txBody>
      </p:sp>
      <p:sp>
        <p:nvSpPr>
          <p:cNvPr id="14" name="Shape 11"/>
          <p:cNvSpPr/>
          <p:nvPr/>
        </p:nvSpPr>
        <p:spPr>
          <a:xfrm>
            <a:off x="4762500" y="2095500"/>
            <a:ext cx="3810000" cy="1628775"/>
          </a:xfrm>
          <a:prstGeom prst="roundRect">
            <a:avLst>
              <a:gd name="adj" fmla="val 11228"/>
            </a:avLst>
          </a:prstGeom>
          <a:solidFill>
            <a:srgbClr val="FFFFFF">
              <a:alpha val="65000"/>
            </a:srgbClr>
          </a:solidFill>
          <a:ln w="9049">
            <a:solidFill>
              <a:srgbClr val="312938">
                <a:alpha val="15000"/>
              </a:srgbClr>
            </a:solidFill>
            <a:prstDash val="solid"/>
          </a:ln>
        </p:spPr>
      </p:sp>
      <p:sp>
        <p:nvSpPr>
          <p:cNvPr id="15" name="Text 12"/>
          <p:cNvSpPr/>
          <p:nvPr/>
        </p:nvSpPr>
        <p:spPr>
          <a:xfrm>
            <a:off x="4953000" y="2247900"/>
            <a:ext cx="3429000" cy="238125"/>
          </a:xfrm>
          <a:prstGeom prst="rect">
            <a:avLst/>
          </a:prstGeom>
          <a:noFill/>
          <a:ln/>
        </p:spPr>
        <p:txBody>
          <a:bodyPr wrap="square" lIns="0" tIns="0" rIns="0" bIns="0" rtlCol="0" anchor="t"/>
          <a:lstStyle/>
          <a:p>
            <a:pPr algn="l" indent="0" marL="0">
              <a:lnSpc>
                <a:spcPts val="1796"/>
              </a:lnSpc>
              <a:buNone/>
            </a:pPr>
            <a:r>
              <a:rPr lang="en-US" sz="1425" b="1" dirty="0">
                <a:solidFill>
                  <a:srgbClr val="312938">
                    <a:alpha val="99000"/>
                  </a:srgbClr>
                </a:solidFill>
                <a:latin typeface="Wix Madefor Text" pitchFamily="34" charset="0"/>
                <a:ea typeface="Wix Madefor Text" pitchFamily="34" charset="-122"/>
                <a:cs typeface="Wix Madefor Text" pitchFamily="34" charset="-120"/>
              </a:rPr>
              <a:t>Spark speak</a:t>
            </a:r>
            <a:endParaRPr lang="en-US" sz="1425" dirty="0"/>
          </a:p>
        </p:txBody>
      </p:sp>
      <p:sp>
        <p:nvSpPr>
          <p:cNvPr id="16" name="Text 13"/>
          <p:cNvSpPr/>
          <p:nvPr/>
        </p:nvSpPr>
        <p:spPr>
          <a:xfrm>
            <a:off x="4953000" y="2571750"/>
            <a:ext cx="3429000" cy="161925"/>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Leaf</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Spark's off-chain coin; splits to any amount</a:t>
            </a:r>
            <a:endParaRPr lang="en-US" sz="962" dirty="0"/>
          </a:p>
        </p:txBody>
      </p:sp>
      <p:sp>
        <p:nvSpPr>
          <p:cNvPr id="17" name="Text 14"/>
          <p:cNvSpPr/>
          <p:nvPr/>
        </p:nvSpPr>
        <p:spPr>
          <a:xfrm>
            <a:off x="4953000" y="2819400"/>
            <a:ext cx="3429000" cy="323850"/>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Spark Operators</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Lightspark, Breez, Flashnet (2-of-3 FROST signing)</a:t>
            </a:r>
            <a:endParaRPr lang="en-US" sz="962" dirty="0"/>
          </a:p>
        </p:txBody>
      </p:sp>
      <p:sp>
        <p:nvSpPr>
          <p:cNvPr id="18" name="Text 15"/>
          <p:cNvSpPr/>
          <p:nvPr/>
        </p:nvSpPr>
        <p:spPr>
          <a:xfrm>
            <a:off x="4953000" y="3228975"/>
            <a:ext cx="3429000" cy="323850"/>
          </a:xfrm>
          <a:prstGeom prst="rect">
            <a:avLst/>
          </a:prstGeom>
          <a:noFill/>
          <a:ln/>
        </p:spPr>
        <p:txBody>
          <a:bodyPr wrap="square" lIns="0" tIns="0" rIns="0" bIns="0" rtlCol="0" anchor="t"/>
          <a:lstStyle/>
          <a:p>
            <a:pPr algn="l" indent="0" marL="0">
              <a:lnSpc>
                <a:spcPts val="1212"/>
              </a:lnSpc>
              <a:buNone/>
            </a:pPr>
            <a:r>
              <a:rPr lang="en-US" sz="962" b="1" dirty="0">
                <a:solidFill>
                  <a:srgbClr val="312938">
                    <a:alpha val="99000"/>
                  </a:srgbClr>
                </a:solidFill>
                <a:latin typeface="Wix Madefor Text" pitchFamily="34" charset="0"/>
                <a:ea typeface="Wix Madefor Text" pitchFamily="34" charset="-122"/>
                <a:cs typeface="Wix Madefor Text" pitchFamily="34" charset="-120"/>
              </a:rPr>
              <a:t>Spark Service Provider (SSP)</a:t>
            </a:r>
            <a:pPr algn="l" indent="0" marL="0">
              <a:lnSpc>
                <a:spcPts val="1212"/>
              </a:lnSpc>
              <a:buNone/>
            </a:pPr>
            <a:r>
              <a:rPr lang="en-US" sz="962" dirty="0">
                <a:solidFill>
                  <a:srgbClr val="312938">
                    <a:alpha val="99000"/>
                  </a:srgbClr>
                </a:solidFill>
                <a:latin typeface="Wix Madefor Text" pitchFamily="34" charset="0"/>
                <a:ea typeface="Wix Madefor Text" pitchFamily="34" charset="-122"/>
                <a:cs typeface="Wix Madefor Text" pitchFamily="34" charset="-120"/>
              </a:rPr>
              <a:t> — the bridge between leaves and Lightning</a:t>
            </a:r>
            <a:endParaRPr lang="en-US" sz="962" dirty="0"/>
          </a:p>
        </p:txBody>
      </p:sp>
      <p:sp>
        <p:nvSpPr>
          <p:cNvPr id="19" name="Shape 16"/>
          <p:cNvSpPr/>
          <p:nvPr/>
        </p:nvSpPr>
        <p:spPr>
          <a:xfrm>
            <a:off x="0" y="0"/>
            <a:ext cx="9144000" cy="595313"/>
          </a:xfrm>
          <a:prstGeom prst="rect">
            <a:avLst/>
          </a:prstGeom>
          <a:noFill/>
          <a:ln/>
        </p:spPr>
      </p:sp>
      <p:sp>
        <p:nvSpPr>
          <p:cNvPr id="20" name="Shape 17"/>
          <p:cNvSpPr/>
          <p:nvPr/>
        </p:nvSpPr>
        <p:spPr>
          <a:xfrm>
            <a:off x="238125" y="238125"/>
            <a:ext cx="8667750" cy="357188"/>
          </a:xfrm>
          <a:prstGeom prst="rect">
            <a:avLst/>
          </a:prstGeom>
          <a:noFill/>
          <a:ln/>
        </p:spPr>
      </p:sp>
      <p:pic>
        <p:nvPicPr>
          <p:cNvPr id="21"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795838"/>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962025"/>
          </a:xfrm>
          <a:prstGeom prst="rect">
            <a:avLst/>
          </a:prstGeom>
          <a:noFill/>
          <a:ln/>
        </p:spPr>
        <p:txBody>
          <a:bodyPr wrap="square" lIns="0" tIns="0" rIns="0" bIns="0" rtlCol="0" anchor="t"/>
          <a:lstStyle/>
          <a:p>
            <a:pPr algn="l"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How Ark works</a:t>
            </a:r>
            <a:endParaRPr lang="en-US" sz="5700" dirty="0"/>
          </a:p>
        </p:txBody>
      </p:sp>
      <p:sp>
        <p:nvSpPr>
          <p:cNvPr id="6" name="Shape 3"/>
          <p:cNvSpPr/>
          <p:nvPr/>
        </p:nvSpPr>
        <p:spPr>
          <a:xfrm>
            <a:off x="238125" y="1652588"/>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238125" y="1938337"/>
            <a:ext cx="6905625" cy="2857500"/>
          </a:xfrm>
          <a:prstGeom prst="rect">
            <a:avLst/>
          </a:prstGeom>
        </p:spPr>
      </p:pic>
      <p:sp>
        <p:nvSpPr>
          <p:cNvPr id="8" name="Shape 4"/>
          <p:cNvSpPr/>
          <p:nvPr/>
        </p:nvSpPr>
        <p:spPr>
          <a:xfrm>
            <a:off x="0" y="0"/>
            <a:ext cx="9144000" cy="595313"/>
          </a:xfrm>
          <a:prstGeom prst="rect">
            <a:avLst/>
          </a:prstGeom>
          <a:noFill/>
          <a:ln/>
        </p:spPr>
      </p:sp>
      <p:sp>
        <p:nvSpPr>
          <p:cNvPr id="9" name="Shape 5"/>
          <p:cNvSpPr/>
          <p:nvPr/>
        </p:nvSpPr>
        <p:spPr>
          <a:xfrm>
            <a:off x="238125" y="238125"/>
            <a:ext cx="8667750" cy="357188"/>
          </a:xfrm>
          <a:prstGeom prst="rect">
            <a:avLst/>
          </a:prstGeom>
          <a:noFill/>
          <a:ln/>
        </p:spPr>
      </p:sp>
      <p:pic>
        <p:nvPicPr>
          <p:cNvPr id="10"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3719512"/>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Ark is not unified</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sp>
        <p:nvSpPr>
          <p:cNvPr id="7" name="Shape 4"/>
          <p:cNvSpPr/>
          <p:nvPr/>
        </p:nvSpPr>
        <p:spPr>
          <a:xfrm>
            <a:off x="238125" y="1695450"/>
            <a:ext cx="8667750" cy="2024062"/>
          </a:xfrm>
          <a:prstGeom prst="roundRect">
            <a:avLst>
              <a:gd name="adj" fmla="val 6325"/>
            </a:avLst>
          </a:prstGeom>
          <a:noFill/>
          <a:ln w="9049">
            <a:solidFill>
              <a:srgbClr val="312938">
                <a:alpha val="25000"/>
              </a:srgbClr>
            </a:solidFill>
            <a:prstDash val="solid"/>
          </a:ln>
        </p:spPr>
      </p:sp>
      <p:sp>
        <p:nvSpPr>
          <p:cNvPr id="8" name="Shape 5"/>
          <p:cNvSpPr/>
          <p:nvPr/>
        </p:nvSpPr>
        <p:spPr>
          <a:xfrm>
            <a:off x="238125" y="1695450"/>
            <a:ext cx="8667750" cy="338138"/>
          </a:xfrm>
          <a:prstGeom prst="rect">
            <a:avLst/>
          </a:prstGeom>
          <a:solidFill>
            <a:srgbClr val="312938"/>
          </a:solidFill>
          <a:ln/>
        </p:spPr>
      </p:sp>
      <p:sp>
        <p:nvSpPr>
          <p:cNvPr id="9" name="Shape 6"/>
          <p:cNvSpPr/>
          <p:nvPr/>
        </p:nvSpPr>
        <p:spPr>
          <a:xfrm>
            <a:off x="238125" y="1695450"/>
            <a:ext cx="1428750" cy="338138"/>
          </a:xfrm>
          <a:prstGeom prst="rect">
            <a:avLst/>
          </a:prstGeom>
          <a:noFill/>
          <a:ln/>
        </p:spPr>
      </p:sp>
      <p:sp>
        <p:nvSpPr>
          <p:cNvPr id="10" name="Text 7"/>
          <p:cNvSpPr/>
          <p:nvPr/>
        </p:nvSpPr>
        <p:spPr>
          <a:xfrm>
            <a:off x="352425" y="1781175"/>
            <a:ext cx="1219200" cy="166688"/>
          </a:xfrm>
          <a:prstGeom prst="rect">
            <a:avLst/>
          </a:prstGeom>
          <a:noFill/>
          <a:ln/>
        </p:spPr>
        <p:txBody>
          <a:bodyPr wrap="square" lIns="0" tIns="0" rIns="0" bIns="0" rtlCol="0" anchor="t"/>
          <a:lstStyle/>
          <a:p>
            <a:pPr indent="0" marL="0">
              <a:buNone/>
            </a:pPr>
            <a:endParaRPr lang="en-US" dirty="0"/>
          </a:p>
        </p:txBody>
      </p:sp>
      <p:sp>
        <p:nvSpPr>
          <p:cNvPr id="11" name="Shape 8"/>
          <p:cNvSpPr/>
          <p:nvPr/>
        </p:nvSpPr>
        <p:spPr>
          <a:xfrm>
            <a:off x="1666875" y="1695450"/>
            <a:ext cx="3619500" cy="338138"/>
          </a:xfrm>
          <a:prstGeom prst="rect">
            <a:avLst/>
          </a:prstGeom>
          <a:noFill/>
          <a:ln/>
        </p:spPr>
      </p:sp>
      <p:sp>
        <p:nvSpPr>
          <p:cNvPr id="12" name="Text 9"/>
          <p:cNvSpPr/>
          <p:nvPr/>
        </p:nvSpPr>
        <p:spPr>
          <a:xfrm>
            <a:off x="1781175" y="1781175"/>
            <a:ext cx="3409950" cy="166688"/>
          </a:xfrm>
          <a:prstGeom prst="rect">
            <a:avLst/>
          </a:prstGeom>
          <a:noFill/>
          <a:ln/>
        </p:spPr>
        <p:txBody>
          <a:bodyPr wrap="square" lIns="0" tIns="0" rIns="0" bIns="0" rtlCol="0" anchor="t"/>
          <a:lstStyle/>
          <a:p>
            <a:pPr algn="l" indent="0" marL="0">
              <a:lnSpc>
                <a:spcPts val="1257"/>
              </a:lnSpc>
              <a:buNone/>
            </a:pPr>
            <a:r>
              <a:rPr lang="en-US" sz="998" b="1" dirty="0">
                <a:solidFill>
                  <a:srgbClr val="FFFFFF">
                    <a:alpha val="99000"/>
                  </a:srgbClr>
                </a:solidFill>
                <a:latin typeface="Wix Madefor Text" pitchFamily="34" charset="0"/>
                <a:ea typeface="Wix Madefor Text" pitchFamily="34" charset="-122"/>
                <a:cs typeface="Wix Madefor Text" pitchFamily="34" charset="-120"/>
              </a:rPr>
              <a:t>Arkade (Ark Labs)</a:t>
            </a:r>
            <a:endParaRPr lang="en-US" sz="998" dirty="0"/>
          </a:p>
        </p:txBody>
      </p:sp>
      <p:sp>
        <p:nvSpPr>
          <p:cNvPr id="13" name="Shape 10"/>
          <p:cNvSpPr/>
          <p:nvPr/>
        </p:nvSpPr>
        <p:spPr>
          <a:xfrm>
            <a:off x="5286375" y="1695450"/>
            <a:ext cx="3619500" cy="338138"/>
          </a:xfrm>
          <a:prstGeom prst="rect">
            <a:avLst/>
          </a:prstGeom>
          <a:noFill/>
          <a:ln/>
        </p:spPr>
      </p:sp>
      <p:sp>
        <p:nvSpPr>
          <p:cNvPr id="14" name="Text 11"/>
          <p:cNvSpPr/>
          <p:nvPr/>
        </p:nvSpPr>
        <p:spPr>
          <a:xfrm>
            <a:off x="5400675" y="1781175"/>
            <a:ext cx="3409950" cy="166688"/>
          </a:xfrm>
          <a:prstGeom prst="rect">
            <a:avLst/>
          </a:prstGeom>
          <a:noFill/>
          <a:ln/>
        </p:spPr>
        <p:txBody>
          <a:bodyPr wrap="square" lIns="0" tIns="0" rIns="0" bIns="0" rtlCol="0" anchor="t"/>
          <a:lstStyle/>
          <a:p>
            <a:pPr algn="l" indent="0" marL="0">
              <a:lnSpc>
                <a:spcPts val="1257"/>
              </a:lnSpc>
              <a:buNone/>
            </a:pPr>
            <a:r>
              <a:rPr lang="en-US" sz="998" b="1" dirty="0">
                <a:solidFill>
                  <a:srgbClr val="FFFFFF">
                    <a:alpha val="99000"/>
                  </a:srgbClr>
                </a:solidFill>
                <a:latin typeface="Wix Madefor Text" pitchFamily="34" charset="0"/>
                <a:ea typeface="Wix Madefor Text" pitchFamily="34" charset="-122"/>
                <a:cs typeface="Wix Madefor Text" pitchFamily="34" charset="-120"/>
              </a:rPr>
              <a:t>Bark (Second)</a:t>
            </a:r>
            <a:endParaRPr lang="en-US" sz="998" dirty="0"/>
          </a:p>
        </p:txBody>
      </p:sp>
      <p:sp>
        <p:nvSpPr>
          <p:cNvPr id="15" name="Shape 12"/>
          <p:cNvSpPr/>
          <p:nvPr/>
        </p:nvSpPr>
        <p:spPr>
          <a:xfrm>
            <a:off x="238125" y="2033588"/>
            <a:ext cx="8667750" cy="338138"/>
          </a:xfrm>
          <a:prstGeom prst="rect">
            <a:avLst/>
          </a:prstGeom>
          <a:solidFill>
            <a:srgbClr val="FFFFFF">
              <a:alpha val="70000"/>
            </a:srgbClr>
          </a:solidFill>
          <a:ln/>
        </p:spPr>
      </p:sp>
      <p:sp>
        <p:nvSpPr>
          <p:cNvPr id="16" name="Shape 13"/>
          <p:cNvSpPr/>
          <p:nvPr/>
        </p:nvSpPr>
        <p:spPr>
          <a:xfrm>
            <a:off x="238125" y="2033588"/>
            <a:ext cx="1428750" cy="338138"/>
          </a:xfrm>
          <a:prstGeom prst="rect">
            <a:avLst/>
          </a:prstGeom>
          <a:noFill/>
          <a:ln/>
        </p:spPr>
      </p:sp>
      <p:sp>
        <p:nvSpPr>
          <p:cNvPr id="17" name="Text 14"/>
          <p:cNvSpPr/>
          <p:nvPr/>
        </p:nvSpPr>
        <p:spPr>
          <a:xfrm>
            <a:off x="352425" y="2119313"/>
            <a:ext cx="1219200" cy="166688"/>
          </a:xfrm>
          <a:prstGeom prst="rect">
            <a:avLst/>
          </a:prstGeom>
          <a:noFill/>
          <a:ln/>
        </p:spPr>
        <p:txBody>
          <a:bodyPr wrap="square" lIns="0" tIns="0" rIns="0" bIns="0" rtlCol="0" anchor="t"/>
          <a:lstStyle/>
          <a:p>
            <a:pPr algn="l" indent="0" marL="0">
              <a:lnSpc>
                <a:spcPts val="1257"/>
              </a:lnSpc>
              <a:buNone/>
            </a:pPr>
            <a:r>
              <a:rPr lang="en-US" sz="998" b="1" dirty="0">
                <a:solidFill>
                  <a:srgbClr val="312938">
                    <a:alpha val="99000"/>
                  </a:srgbClr>
                </a:solidFill>
                <a:latin typeface="Wix Madefor Text" pitchFamily="34" charset="0"/>
                <a:ea typeface="Wix Madefor Text" pitchFamily="34" charset="-122"/>
                <a:cs typeface="Wix Madefor Text" pitchFamily="34" charset="-120"/>
              </a:rPr>
              <a:t>Status</a:t>
            </a:r>
            <a:endParaRPr lang="en-US" sz="998" dirty="0"/>
          </a:p>
        </p:txBody>
      </p:sp>
      <p:sp>
        <p:nvSpPr>
          <p:cNvPr id="18" name="Shape 15"/>
          <p:cNvSpPr/>
          <p:nvPr/>
        </p:nvSpPr>
        <p:spPr>
          <a:xfrm>
            <a:off x="1666875" y="2033588"/>
            <a:ext cx="3619500" cy="338138"/>
          </a:xfrm>
          <a:prstGeom prst="rect">
            <a:avLst/>
          </a:prstGeom>
          <a:noFill/>
          <a:ln/>
        </p:spPr>
      </p:sp>
      <p:sp>
        <p:nvSpPr>
          <p:cNvPr id="19" name="Text 16"/>
          <p:cNvSpPr/>
          <p:nvPr/>
        </p:nvSpPr>
        <p:spPr>
          <a:xfrm>
            <a:off x="1781175" y="2119313"/>
            <a:ext cx="3409950" cy="166688"/>
          </a:xfrm>
          <a:prstGeom prst="rect">
            <a:avLst/>
          </a:prstGeom>
          <a:noFill/>
          <a:ln/>
        </p:spPr>
        <p:txBody>
          <a:bodyPr wrap="square" lIns="0" tIns="0" rIns="0" bIns="0" rtlCol="0" anchor="t"/>
          <a:lstStyle/>
          <a:p>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  Mainnet, live</a:t>
            </a:r>
            <a:endParaRPr lang="en-US" sz="998" dirty="0"/>
          </a:p>
        </p:txBody>
      </p:sp>
      <p:sp>
        <p:nvSpPr>
          <p:cNvPr id="20" name="Shape 17"/>
          <p:cNvSpPr/>
          <p:nvPr/>
        </p:nvSpPr>
        <p:spPr>
          <a:xfrm>
            <a:off x="5286375" y="2033588"/>
            <a:ext cx="3619500" cy="338138"/>
          </a:xfrm>
          <a:prstGeom prst="rect">
            <a:avLst/>
          </a:prstGeom>
          <a:noFill/>
          <a:ln/>
        </p:spPr>
      </p:sp>
      <p:sp>
        <p:nvSpPr>
          <p:cNvPr id="21" name="Text 18"/>
          <p:cNvSpPr/>
          <p:nvPr/>
        </p:nvSpPr>
        <p:spPr>
          <a:xfrm>
            <a:off x="5400675" y="2119313"/>
            <a:ext cx="3409950" cy="166688"/>
          </a:xfrm>
          <a:prstGeom prst="rect">
            <a:avLst/>
          </a:prstGeom>
          <a:noFill/>
          <a:ln/>
        </p:spPr>
        <p:txBody>
          <a:bodyPr wrap="square" lIns="0" tIns="0" rIns="0" bIns="0" rtlCol="0" anchor="t"/>
          <a:lstStyle/>
          <a:p>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  Mainnet — live (June 2026)</a:t>
            </a:r>
            <a:endParaRPr lang="en-US" sz="998" dirty="0"/>
          </a:p>
        </p:txBody>
      </p:sp>
      <p:sp>
        <p:nvSpPr>
          <p:cNvPr id="22" name="Shape 19"/>
          <p:cNvSpPr/>
          <p:nvPr/>
        </p:nvSpPr>
        <p:spPr>
          <a:xfrm>
            <a:off x="238125" y="2371725"/>
            <a:ext cx="8667750" cy="504825"/>
          </a:xfrm>
          <a:prstGeom prst="rect">
            <a:avLst/>
          </a:prstGeom>
          <a:solidFill>
            <a:srgbClr val="EFEFF8"/>
          </a:solidFill>
          <a:ln/>
        </p:spPr>
      </p:sp>
      <p:sp>
        <p:nvSpPr>
          <p:cNvPr id="23" name="Shape 20"/>
          <p:cNvSpPr/>
          <p:nvPr/>
        </p:nvSpPr>
        <p:spPr>
          <a:xfrm>
            <a:off x="238125" y="2371725"/>
            <a:ext cx="1428750" cy="504825"/>
          </a:xfrm>
          <a:prstGeom prst="rect">
            <a:avLst/>
          </a:prstGeom>
          <a:noFill/>
          <a:ln/>
        </p:spPr>
      </p:sp>
      <p:sp>
        <p:nvSpPr>
          <p:cNvPr id="24" name="Text 21"/>
          <p:cNvSpPr/>
          <p:nvPr/>
        </p:nvSpPr>
        <p:spPr>
          <a:xfrm>
            <a:off x="352425" y="2457450"/>
            <a:ext cx="1219200" cy="166688"/>
          </a:xfrm>
          <a:prstGeom prst="rect">
            <a:avLst/>
          </a:prstGeom>
          <a:noFill/>
          <a:ln/>
        </p:spPr>
        <p:txBody>
          <a:bodyPr wrap="square" lIns="0" tIns="0" rIns="0" bIns="0" rtlCol="0" anchor="t"/>
          <a:lstStyle/>
          <a:p>
            <a:pPr algn="l" indent="0" marL="0">
              <a:lnSpc>
                <a:spcPts val="1257"/>
              </a:lnSpc>
              <a:buNone/>
            </a:pPr>
            <a:r>
              <a:rPr lang="en-US" sz="998" b="1" dirty="0">
                <a:solidFill>
                  <a:srgbClr val="312938">
                    <a:alpha val="99000"/>
                  </a:srgbClr>
                </a:solidFill>
                <a:latin typeface="Wix Madefor Text" pitchFamily="34" charset="0"/>
                <a:ea typeface="Wix Madefor Text" pitchFamily="34" charset="-122"/>
                <a:cs typeface="Wix Madefor Text" pitchFamily="34" charset="-120"/>
              </a:rPr>
              <a:t>Direction</a:t>
            </a:r>
            <a:endParaRPr lang="en-US" sz="998" dirty="0"/>
          </a:p>
        </p:txBody>
      </p:sp>
      <p:sp>
        <p:nvSpPr>
          <p:cNvPr id="25" name="Shape 22"/>
          <p:cNvSpPr/>
          <p:nvPr/>
        </p:nvSpPr>
        <p:spPr>
          <a:xfrm>
            <a:off x="1666875" y="2371725"/>
            <a:ext cx="3619500" cy="504825"/>
          </a:xfrm>
          <a:prstGeom prst="rect">
            <a:avLst/>
          </a:prstGeom>
          <a:noFill/>
          <a:ln/>
        </p:spPr>
      </p:sp>
      <p:sp>
        <p:nvSpPr>
          <p:cNvPr id="26" name="Text 23"/>
          <p:cNvSpPr/>
          <p:nvPr/>
        </p:nvSpPr>
        <p:spPr>
          <a:xfrm>
            <a:off x="1781175" y="2457450"/>
            <a:ext cx="3409950" cy="333375"/>
          </a:xfrm>
          <a:prstGeom prst="rect">
            <a:avLst/>
          </a:prstGeom>
          <a:noFill/>
          <a:ln/>
        </p:spPr>
        <p:txBody>
          <a:bodyPr wrap="square" lIns="0" tIns="0" rIns="0" bIns="0" rtlCol="0" anchor="t"/>
          <a:lstStyle/>
          <a:p>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Programmable execution layer: contracts, assets, the Virtual Mempool</a:t>
            </a:r>
            <a:endParaRPr lang="en-US" sz="998" dirty="0"/>
          </a:p>
        </p:txBody>
      </p:sp>
      <p:sp>
        <p:nvSpPr>
          <p:cNvPr id="27" name="Shape 24"/>
          <p:cNvSpPr/>
          <p:nvPr/>
        </p:nvSpPr>
        <p:spPr>
          <a:xfrm>
            <a:off x="5286375" y="2371725"/>
            <a:ext cx="3619500" cy="504825"/>
          </a:xfrm>
          <a:prstGeom prst="rect">
            <a:avLst/>
          </a:prstGeom>
          <a:noFill/>
          <a:ln/>
        </p:spPr>
      </p:sp>
      <p:sp>
        <p:nvSpPr>
          <p:cNvPr id="28" name="Text 25"/>
          <p:cNvSpPr/>
          <p:nvPr/>
        </p:nvSpPr>
        <p:spPr>
          <a:xfrm>
            <a:off x="5400675" y="2457450"/>
            <a:ext cx="3409950" cy="333375"/>
          </a:xfrm>
          <a:prstGeom prst="rect">
            <a:avLst/>
          </a:prstGeom>
          <a:noFill/>
          <a:ln/>
        </p:spPr>
        <p:txBody>
          <a:bodyPr wrap="square" lIns="0" tIns="0" rIns="0" bIns="0" rtlCol="0" anchor="t"/>
          <a:lstStyle/>
          <a:p>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Payments-focused wallet SDK: Ark + Lightning + on-chain</a:t>
            </a:r>
            <a:endParaRPr lang="en-US" sz="998" dirty="0"/>
          </a:p>
        </p:txBody>
      </p:sp>
      <p:sp>
        <p:nvSpPr>
          <p:cNvPr id="29" name="Shape 26"/>
          <p:cNvSpPr/>
          <p:nvPr/>
        </p:nvSpPr>
        <p:spPr>
          <a:xfrm>
            <a:off x="238125" y="2876550"/>
            <a:ext cx="8667750" cy="338138"/>
          </a:xfrm>
          <a:prstGeom prst="rect">
            <a:avLst/>
          </a:prstGeom>
          <a:solidFill>
            <a:srgbClr val="FFFFFF">
              <a:alpha val="70000"/>
            </a:srgbClr>
          </a:solidFill>
          <a:ln/>
        </p:spPr>
      </p:sp>
      <p:sp>
        <p:nvSpPr>
          <p:cNvPr id="30" name="Shape 27"/>
          <p:cNvSpPr/>
          <p:nvPr/>
        </p:nvSpPr>
        <p:spPr>
          <a:xfrm>
            <a:off x="238125" y="2876550"/>
            <a:ext cx="1428750" cy="338138"/>
          </a:xfrm>
          <a:prstGeom prst="rect">
            <a:avLst/>
          </a:prstGeom>
          <a:noFill/>
          <a:ln/>
        </p:spPr>
      </p:sp>
      <p:sp>
        <p:nvSpPr>
          <p:cNvPr id="31" name="Text 28"/>
          <p:cNvSpPr/>
          <p:nvPr/>
        </p:nvSpPr>
        <p:spPr>
          <a:xfrm>
            <a:off x="352425" y="2962275"/>
            <a:ext cx="1219200" cy="166688"/>
          </a:xfrm>
          <a:prstGeom prst="rect">
            <a:avLst/>
          </a:prstGeom>
          <a:noFill/>
          <a:ln/>
        </p:spPr>
        <p:txBody>
          <a:bodyPr wrap="square" lIns="0" tIns="0" rIns="0" bIns="0" rtlCol="0" anchor="t"/>
          <a:lstStyle/>
          <a:p>
            <a:pPr algn="l" indent="0" marL="0">
              <a:lnSpc>
                <a:spcPts val="1257"/>
              </a:lnSpc>
              <a:buNone/>
            </a:pPr>
            <a:r>
              <a:rPr lang="en-US" sz="998" b="1" dirty="0">
                <a:solidFill>
                  <a:srgbClr val="312938">
                    <a:alpha val="99000"/>
                  </a:srgbClr>
                </a:solidFill>
                <a:latin typeface="Wix Madefor Text" pitchFamily="34" charset="0"/>
                <a:ea typeface="Wix Madefor Text" pitchFamily="34" charset="-122"/>
                <a:cs typeface="Wix Madefor Text" pitchFamily="34" charset="-120"/>
              </a:rPr>
              <a:t>Vocabulary</a:t>
            </a:r>
            <a:endParaRPr lang="en-US" sz="998" dirty="0"/>
          </a:p>
        </p:txBody>
      </p:sp>
      <p:sp>
        <p:nvSpPr>
          <p:cNvPr id="32" name="Shape 29"/>
          <p:cNvSpPr/>
          <p:nvPr/>
        </p:nvSpPr>
        <p:spPr>
          <a:xfrm>
            <a:off x="1666875" y="2876550"/>
            <a:ext cx="3619500" cy="338138"/>
          </a:xfrm>
          <a:prstGeom prst="rect">
            <a:avLst/>
          </a:prstGeom>
          <a:noFill/>
          <a:ln/>
        </p:spPr>
      </p:sp>
      <p:sp>
        <p:nvSpPr>
          <p:cNvPr id="33" name="Text 30"/>
          <p:cNvSpPr/>
          <p:nvPr/>
        </p:nvSpPr>
        <p:spPr>
          <a:xfrm>
            <a:off x="1781175" y="2962275"/>
            <a:ext cx="3409950" cy="166688"/>
          </a:xfrm>
          <a:prstGeom prst="rect">
            <a:avLst/>
          </a:prstGeom>
          <a:noFill/>
          <a:ln/>
        </p:spPr>
        <p:txBody>
          <a:bodyPr wrap="square" lIns="0" tIns="0" rIns="0" bIns="0" rtlCol="0" anchor="t"/>
          <a:lstStyle/>
          <a:p>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“batch swap”, “commitment tx”, “Arkade tx”</a:t>
            </a:r>
            <a:endParaRPr lang="en-US" sz="998" dirty="0"/>
          </a:p>
        </p:txBody>
      </p:sp>
      <p:sp>
        <p:nvSpPr>
          <p:cNvPr id="34" name="Shape 31"/>
          <p:cNvSpPr/>
          <p:nvPr/>
        </p:nvSpPr>
        <p:spPr>
          <a:xfrm>
            <a:off x="5286375" y="2876550"/>
            <a:ext cx="3619500" cy="338138"/>
          </a:xfrm>
          <a:prstGeom prst="rect">
            <a:avLst/>
          </a:prstGeom>
          <a:noFill/>
          <a:ln/>
        </p:spPr>
      </p:sp>
      <p:sp>
        <p:nvSpPr>
          <p:cNvPr id="35" name="Text 32"/>
          <p:cNvSpPr/>
          <p:nvPr/>
        </p:nvSpPr>
        <p:spPr>
          <a:xfrm>
            <a:off x="5400675" y="2962275"/>
            <a:ext cx="3409950" cy="166688"/>
          </a:xfrm>
          <a:prstGeom prst="rect">
            <a:avLst/>
          </a:prstGeom>
          <a:noFill/>
          <a:ln/>
        </p:spPr>
        <p:txBody>
          <a:bodyPr wrap="square" lIns="0" tIns="0" rIns="0" bIns="0" rtlCol="0" anchor="t"/>
          <a:lstStyle/>
          <a:p>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“rounds”, “arkoor”, “round tx”</a:t>
            </a:r>
            <a:endParaRPr lang="en-US" sz="998" dirty="0"/>
          </a:p>
        </p:txBody>
      </p:sp>
      <p:sp>
        <p:nvSpPr>
          <p:cNvPr id="36" name="Shape 33"/>
          <p:cNvSpPr/>
          <p:nvPr/>
        </p:nvSpPr>
        <p:spPr>
          <a:xfrm>
            <a:off x="238125" y="3214688"/>
            <a:ext cx="8667750" cy="504825"/>
          </a:xfrm>
          <a:prstGeom prst="rect">
            <a:avLst/>
          </a:prstGeom>
          <a:solidFill>
            <a:srgbClr val="EFEFF8"/>
          </a:solidFill>
          <a:ln/>
        </p:spPr>
      </p:sp>
      <p:sp>
        <p:nvSpPr>
          <p:cNvPr id="37" name="Shape 34"/>
          <p:cNvSpPr/>
          <p:nvPr/>
        </p:nvSpPr>
        <p:spPr>
          <a:xfrm>
            <a:off x="238125" y="3214688"/>
            <a:ext cx="1428750" cy="504825"/>
          </a:xfrm>
          <a:prstGeom prst="rect">
            <a:avLst/>
          </a:prstGeom>
          <a:noFill/>
          <a:ln/>
        </p:spPr>
      </p:sp>
      <p:sp>
        <p:nvSpPr>
          <p:cNvPr id="38" name="Text 35"/>
          <p:cNvSpPr/>
          <p:nvPr/>
        </p:nvSpPr>
        <p:spPr>
          <a:xfrm>
            <a:off x="352425" y="3300413"/>
            <a:ext cx="1219200" cy="166688"/>
          </a:xfrm>
          <a:prstGeom prst="rect">
            <a:avLst/>
          </a:prstGeom>
          <a:noFill/>
          <a:ln/>
        </p:spPr>
        <p:txBody>
          <a:bodyPr wrap="square" lIns="0" tIns="0" rIns="0" bIns="0" rtlCol="0" anchor="t"/>
          <a:lstStyle/>
          <a:p>
            <a:pPr algn="l" indent="0" marL="0">
              <a:lnSpc>
                <a:spcPts val="1257"/>
              </a:lnSpc>
              <a:buNone/>
            </a:pPr>
            <a:r>
              <a:rPr lang="en-US" sz="998" b="1" dirty="0">
                <a:solidFill>
                  <a:srgbClr val="312938">
                    <a:alpha val="99000"/>
                  </a:srgbClr>
                </a:solidFill>
                <a:latin typeface="Wix Madefor Text" pitchFamily="34" charset="0"/>
                <a:ea typeface="Wix Madefor Text" pitchFamily="34" charset="-122"/>
                <a:cs typeface="Wix Madefor Text" pitchFamily="34" charset="-120"/>
              </a:rPr>
              <a:t>Refresh</a:t>
            </a:r>
            <a:endParaRPr lang="en-US" sz="998" dirty="0"/>
          </a:p>
        </p:txBody>
      </p:sp>
      <p:sp>
        <p:nvSpPr>
          <p:cNvPr id="39" name="Shape 36"/>
          <p:cNvSpPr/>
          <p:nvPr/>
        </p:nvSpPr>
        <p:spPr>
          <a:xfrm>
            <a:off x="1666875" y="3214688"/>
            <a:ext cx="3619500" cy="504825"/>
          </a:xfrm>
          <a:prstGeom prst="rect">
            <a:avLst/>
          </a:prstGeom>
          <a:noFill/>
          <a:ln/>
        </p:spPr>
      </p:sp>
      <p:sp>
        <p:nvSpPr>
          <p:cNvPr id="40" name="Text 37"/>
          <p:cNvSpPr/>
          <p:nvPr/>
        </p:nvSpPr>
        <p:spPr>
          <a:xfrm>
            <a:off x="1781175" y="3300413"/>
            <a:ext cx="3409950" cy="166688"/>
          </a:xfrm>
          <a:prstGeom prst="rect">
            <a:avLst/>
          </a:prstGeom>
          <a:noFill/>
          <a:ln/>
        </p:spPr>
        <p:txBody>
          <a:bodyPr wrap="square" lIns="0" tIns="0" rIns="0" bIns="0" rtlCol="0" anchor="t"/>
          <a:lstStyle/>
          <a:p>
            <a:pPr algn="l" indent="0" marL="0">
              <a:lnSpc>
                <a:spcPts val="1257"/>
              </a:lnSpc>
              <a:buNone/>
            </a:pPr>
            <a:r>
              <a:rPr lang="en-US" sz="998" b="1" dirty="0">
                <a:solidFill>
                  <a:srgbClr val="312938">
                    <a:alpha val="99000"/>
                  </a:srgbClr>
                </a:solidFill>
                <a:latin typeface="Wix Madefor Text" pitchFamily="34" charset="0"/>
                <a:ea typeface="Wix Madefor Text" pitchFamily="34" charset="-122"/>
                <a:cs typeface="Wix Madefor Text" pitchFamily="34" charset="-120"/>
              </a:rPr>
              <a:t>Intent delegation</a:t>
            </a:r>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 — shipped</a:t>
            </a:r>
            <a:endParaRPr lang="en-US" sz="998" dirty="0"/>
          </a:p>
        </p:txBody>
      </p:sp>
      <p:sp>
        <p:nvSpPr>
          <p:cNvPr id="41" name="Shape 38"/>
          <p:cNvSpPr/>
          <p:nvPr/>
        </p:nvSpPr>
        <p:spPr>
          <a:xfrm>
            <a:off x="5286375" y="3214688"/>
            <a:ext cx="3619500" cy="504825"/>
          </a:xfrm>
          <a:prstGeom prst="rect">
            <a:avLst/>
          </a:prstGeom>
          <a:noFill/>
          <a:ln/>
        </p:spPr>
      </p:sp>
      <p:sp>
        <p:nvSpPr>
          <p:cNvPr id="42" name="Text 39"/>
          <p:cNvSpPr/>
          <p:nvPr/>
        </p:nvSpPr>
        <p:spPr>
          <a:xfrm>
            <a:off x="5400675" y="3300413"/>
            <a:ext cx="3409950" cy="333375"/>
          </a:xfrm>
          <a:prstGeom prst="rect">
            <a:avLst/>
          </a:prstGeom>
          <a:noFill/>
          <a:ln/>
        </p:spPr>
        <p:txBody>
          <a:bodyPr wrap="square" lIns="0" tIns="0" rIns="0" bIns="0" rtlCol="0" anchor="t"/>
          <a:lstStyle/>
          <a:p>
            <a:pPr algn="l" indent="0" marL="0">
              <a:lnSpc>
                <a:spcPts val="1257"/>
              </a:lnSpc>
              <a:buNone/>
            </a:pPr>
            <a:r>
              <a:rPr lang="en-US" sz="998" b="1" dirty="0">
                <a:solidFill>
                  <a:srgbClr val="312938">
                    <a:alpha val="99000"/>
                  </a:srgbClr>
                </a:solidFill>
                <a:latin typeface="Wix Madefor Text" pitchFamily="34" charset="0"/>
                <a:ea typeface="Wix Madefor Text" pitchFamily="34" charset="-122"/>
                <a:cs typeface="Wix Madefor Text" pitchFamily="34" charset="-120"/>
              </a:rPr>
              <a:t>hArk non-interactive rounds</a:t>
            </a:r>
            <a:pPr algn="l" indent="0" marL="0">
              <a:lnSpc>
                <a:spcPts val="1257"/>
              </a:lnSpc>
              <a:buNone/>
            </a:pPr>
            <a:r>
              <a:rPr lang="en-US" sz="998" dirty="0">
                <a:solidFill>
                  <a:srgbClr val="312938">
                    <a:alpha val="99000"/>
                  </a:srgbClr>
                </a:solidFill>
                <a:latin typeface="Wix Madefor Text" pitchFamily="34" charset="0"/>
                <a:ea typeface="Wix Madefor Text" pitchFamily="34" charset="-122"/>
                <a:cs typeface="Wix Madefor Text" pitchFamily="34" charset="-120"/>
              </a:rPr>
              <a:t> — shipped; delegated co-signers WIP</a:t>
            </a:r>
            <a:endParaRPr lang="en-US" sz="998" dirty="0"/>
          </a:p>
        </p:txBody>
      </p:sp>
      <p:sp>
        <p:nvSpPr>
          <p:cNvPr id="43" name="Shape 40"/>
          <p:cNvSpPr/>
          <p:nvPr/>
        </p:nvSpPr>
        <p:spPr>
          <a:xfrm>
            <a:off x="0" y="0"/>
            <a:ext cx="9144000" cy="595313"/>
          </a:xfrm>
          <a:prstGeom prst="rect">
            <a:avLst/>
          </a:prstGeom>
          <a:noFill/>
          <a:ln/>
        </p:spPr>
      </p:sp>
      <p:sp>
        <p:nvSpPr>
          <p:cNvPr id="44" name="Shape 41"/>
          <p:cNvSpPr/>
          <p:nvPr/>
        </p:nvSpPr>
        <p:spPr>
          <a:xfrm>
            <a:off x="238125" y="238125"/>
            <a:ext cx="8667750" cy="357188"/>
          </a:xfrm>
          <a:prstGeom prst="rect">
            <a:avLst/>
          </a:prstGeom>
          <a:noFill/>
          <a:ln/>
        </p:spPr>
      </p:sp>
      <p:pic>
        <p:nvPicPr>
          <p:cNvPr id="45"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267200"/>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How Spark works</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238125" y="1695450"/>
            <a:ext cx="7143750" cy="2571750"/>
          </a:xfrm>
          <a:prstGeom prst="rect">
            <a:avLst/>
          </a:prstGeom>
        </p:spPr>
      </p:pic>
      <p:sp>
        <p:nvSpPr>
          <p:cNvPr id="8" name="Shape 4"/>
          <p:cNvSpPr/>
          <p:nvPr/>
        </p:nvSpPr>
        <p:spPr>
          <a:xfrm>
            <a:off x="0" y="0"/>
            <a:ext cx="9144000" cy="595313"/>
          </a:xfrm>
          <a:prstGeom prst="rect">
            <a:avLst/>
          </a:prstGeom>
          <a:noFill/>
          <a:ln/>
        </p:spPr>
      </p:sp>
      <p:sp>
        <p:nvSpPr>
          <p:cNvPr id="9" name="Shape 5"/>
          <p:cNvSpPr/>
          <p:nvPr/>
        </p:nvSpPr>
        <p:spPr>
          <a:xfrm>
            <a:off x="238125" y="238125"/>
            <a:ext cx="8667750" cy="357188"/>
          </a:xfrm>
          <a:prstGeom prst="rect">
            <a:avLst/>
          </a:prstGeom>
          <a:noFill/>
          <a:ln/>
        </p:spPr>
      </p:sp>
      <p:pic>
        <p:nvPicPr>
          <p:cNvPr id="10"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114800"/>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Problem: expiry</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sp>
        <p:nvSpPr>
          <p:cNvPr id="7" name="Text 4"/>
          <p:cNvSpPr/>
          <p:nvPr/>
        </p:nvSpPr>
        <p:spPr>
          <a:xfrm>
            <a:off x="238125" y="1695450"/>
            <a:ext cx="8429625" cy="54292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VTXOs expire (~28–30d) so operators can reclaim liquidity. Miss the window → the operator can sweep your funds. Phones can't guarantee being online.</a:t>
            </a:r>
            <a:endParaRPr lang="en-US" sz="1069" dirty="0"/>
          </a:p>
        </p:txBody>
      </p:sp>
      <p:sp>
        <p:nvSpPr>
          <p:cNvPr id="8" name="Shape 5"/>
          <p:cNvSpPr/>
          <p:nvPr/>
        </p:nvSpPr>
        <p:spPr>
          <a:xfrm>
            <a:off x="238125" y="2286000"/>
            <a:ext cx="8667750" cy="1828800"/>
          </a:xfrm>
          <a:prstGeom prst="roundRect">
            <a:avLst>
              <a:gd name="adj" fmla="val 7000"/>
            </a:avLst>
          </a:prstGeom>
          <a:noFill/>
          <a:ln w="9049">
            <a:solidFill>
              <a:srgbClr val="312938">
                <a:alpha val="25000"/>
              </a:srgbClr>
            </a:solidFill>
            <a:prstDash val="solid"/>
          </a:ln>
        </p:spPr>
      </p:sp>
      <p:sp>
        <p:nvSpPr>
          <p:cNvPr id="9" name="Shape 6"/>
          <p:cNvSpPr/>
          <p:nvPr/>
        </p:nvSpPr>
        <p:spPr>
          <a:xfrm>
            <a:off x="238125" y="2286000"/>
            <a:ext cx="8667750" cy="314325"/>
          </a:xfrm>
          <a:prstGeom prst="rect">
            <a:avLst/>
          </a:prstGeom>
          <a:solidFill>
            <a:srgbClr val="312938"/>
          </a:solidFill>
          <a:ln/>
        </p:spPr>
      </p:sp>
      <p:sp>
        <p:nvSpPr>
          <p:cNvPr id="10" name="Shape 7"/>
          <p:cNvSpPr/>
          <p:nvPr/>
        </p:nvSpPr>
        <p:spPr>
          <a:xfrm>
            <a:off x="238125" y="2286000"/>
            <a:ext cx="1047750" cy="314325"/>
          </a:xfrm>
          <a:prstGeom prst="rect">
            <a:avLst/>
          </a:prstGeom>
          <a:noFill/>
          <a:ln/>
        </p:spPr>
      </p:sp>
      <p:sp>
        <p:nvSpPr>
          <p:cNvPr id="11" name="Text 8"/>
          <p:cNvSpPr/>
          <p:nvPr/>
        </p:nvSpPr>
        <p:spPr>
          <a:xfrm>
            <a:off x="352425" y="2371725"/>
            <a:ext cx="838200" cy="142875"/>
          </a:xfrm>
          <a:prstGeom prst="rect">
            <a:avLst/>
          </a:prstGeom>
          <a:noFill/>
          <a:ln/>
        </p:spPr>
        <p:txBody>
          <a:bodyPr wrap="square" lIns="0" tIns="0" rIns="0" bIns="0" rtlCol="0" anchor="t"/>
          <a:lstStyle/>
          <a:p>
            <a:pPr indent="0" marL="0">
              <a:buNone/>
            </a:pPr>
            <a:endParaRPr lang="en-US" dirty="0"/>
          </a:p>
        </p:txBody>
      </p:sp>
      <p:sp>
        <p:nvSpPr>
          <p:cNvPr id="12" name="Shape 9"/>
          <p:cNvSpPr/>
          <p:nvPr/>
        </p:nvSpPr>
        <p:spPr>
          <a:xfrm>
            <a:off x="1285875" y="2286000"/>
            <a:ext cx="3143250" cy="314325"/>
          </a:xfrm>
          <a:prstGeom prst="rect">
            <a:avLst/>
          </a:prstGeom>
          <a:noFill/>
          <a:ln/>
        </p:spPr>
      </p:sp>
      <p:sp>
        <p:nvSpPr>
          <p:cNvPr id="13" name="Text 10"/>
          <p:cNvSpPr/>
          <p:nvPr/>
        </p:nvSpPr>
        <p:spPr>
          <a:xfrm>
            <a:off x="1400175" y="2371725"/>
            <a:ext cx="2933700" cy="142875"/>
          </a:xfrm>
          <a:prstGeom prst="rect">
            <a:avLst/>
          </a:prstGeom>
          <a:noFill/>
          <a:ln/>
        </p:spPr>
        <p:txBody>
          <a:bodyPr wrap="square" lIns="0" tIns="0" rIns="0" bIns="0" rtlCol="0" anchor="t"/>
          <a:lstStyle/>
          <a:p>
            <a:pPr algn="l" indent="0" marL="0">
              <a:lnSpc>
                <a:spcPts val="1077"/>
              </a:lnSpc>
              <a:buNone/>
            </a:pPr>
            <a:r>
              <a:rPr lang="en-US" sz="855" b="1" dirty="0">
                <a:solidFill>
                  <a:srgbClr val="FFFFFF">
                    <a:alpha val="99000"/>
                  </a:srgbClr>
                </a:solidFill>
                <a:latin typeface="Wix Madefor Text" pitchFamily="34" charset="0"/>
                <a:ea typeface="Wix Madefor Text" pitchFamily="34" charset="-122"/>
                <a:cs typeface="Wix Madefor Text" pitchFamily="34" charset="-120"/>
              </a:rPr>
              <a:t>Solution</a:t>
            </a:r>
            <a:endParaRPr lang="en-US" sz="855" dirty="0"/>
          </a:p>
        </p:txBody>
      </p:sp>
      <p:sp>
        <p:nvSpPr>
          <p:cNvPr id="14" name="Shape 11"/>
          <p:cNvSpPr/>
          <p:nvPr/>
        </p:nvSpPr>
        <p:spPr>
          <a:xfrm>
            <a:off x="4429125" y="2286000"/>
            <a:ext cx="1333500" cy="314325"/>
          </a:xfrm>
          <a:prstGeom prst="rect">
            <a:avLst/>
          </a:prstGeom>
          <a:noFill/>
          <a:ln/>
        </p:spPr>
      </p:sp>
      <p:sp>
        <p:nvSpPr>
          <p:cNvPr id="15" name="Text 12"/>
          <p:cNvSpPr/>
          <p:nvPr/>
        </p:nvSpPr>
        <p:spPr>
          <a:xfrm>
            <a:off x="4543425" y="2371725"/>
            <a:ext cx="1123950" cy="142875"/>
          </a:xfrm>
          <a:prstGeom prst="rect">
            <a:avLst/>
          </a:prstGeom>
          <a:noFill/>
          <a:ln/>
        </p:spPr>
        <p:txBody>
          <a:bodyPr wrap="square" lIns="0" tIns="0" rIns="0" bIns="0" rtlCol="0" anchor="t"/>
          <a:lstStyle/>
          <a:p>
            <a:pPr algn="l" indent="0" marL="0">
              <a:lnSpc>
                <a:spcPts val="1077"/>
              </a:lnSpc>
              <a:buNone/>
            </a:pPr>
            <a:r>
              <a:rPr lang="en-US" sz="855" b="1" dirty="0">
                <a:solidFill>
                  <a:srgbClr val="FFFFFF">
                    <a:alpha val="99000"/>
                  </a:srgbClr>
                </a:solidFill>
                <a:latin typeface="Wix Madefor Text" pitchFamily="34" charset="0"/>
                <a:ea typeface="Wix Madefor Text" pitchFamily="34" charset="-122"/>
                <a:cs typeface="Wix Madefor Text" pitchFamily="34" charset="-120"/>
              </a:rPr>
              <a:t>Status</a:t>
            </a:r>
            <a:endParaRPr lang="en-US" sz="855" dirty="0"/>
          </a:p>
        </p:txBody>
      </p:sp>
      <p:sp>
        <p:nvSpPr>
          <p:cNvPr id="16" name="Shape 13"/>
          <p:cNvSpPr/>
          <p:nvPr/>
        </p:nvSpPr>
        <p:spPr>
          <a:xfrm>
            <a:off x="5762625" y="2286000"/>
            <a:ext cx="3143250" cy="314325"/>
          </a:xfrm>
          <a:prstGeom prst="rect">
            <a:avLst/>
          </a:prstGeom>
          <a:noFill/>
          <a:ln/>
        </p:spPr>
      </p:sp>
      <p:sp>
        <p:nvSpPr>
          <p:cNvPr id="17" name="Text 14"/>
          <p:cNvSpPr/>
          <p:nvPr/>
        </p:nvSpPr>
        <p:spPr>
          <a:xfrm>
            <a:off x="5876925" y="2371725"/>
            <a:ext cx="2933700" cy="142875"/>
          </a:xfrm>
          <a:prstGeom prst="rect">
            <a:avLst/>
          </a:prstGeom>
          <a:noFill/>
          <a:ln/>
        </p:spPr>
        <p:txBody>
          <a:bodyPr wrap="square" lIns="0" tIns="0" rIns="0" bIns="0" rtlCol="0" anchor="t"/>
          <a:lstStyle/>
          <a:p>
            <a:pPr algn="l" indent="0" marL="0">
              <a:lnSpc>
                <a:spcPts val="1077"/>
              </a:lnSpc>
              <a:buNone/>
            </a:pPr>
            <a:r>
              <a:rPr lang="en-US" sz="855" b="1" dirty="0">
                <a:solidFill>
                  <a:srgbClr val="FFFFFF">
                    <a:alpha val="99000"/>
                  </a:srgbClr>
                </a:solidFill>
                <a:latin typeface="Wix Madefor Text" pitchFamily="34" charset="0"/>
                <a:ea typeface="Wix Madefor Text" pitchFamily="34" charset="-122"/>
                <a:cs typeface="Wix Madefor Text" pitchFamily="34" charset="-120"/>
              </a:rPr>
              <a:t>Tradeoff</a:t>
            </a:r>
            <a:endParaRPr lang="en-US" sz="855" dirty="0"/>
          </a:p>
        </p:txBody>
      </p:sp>
      <p:sp>
        <p:nvSpPr>
          <p:cNvPr id="18" name="Shape 15"/>
          <p:cNvSpPr/>
          <p:nvPr/>
        </p:nvSpPr>
        <p:spPr>
          <a:xfrm>
            <a:off x="238125" y="2600325"/>
            <a:ext cx="8667750" cy="600075"/>
          </a:xfrm>
          <a:prstGeom prst="rect">
            <a:avLst/>
          </a:prstGeom>
          <a:solidFill>
            <a:srgbClr val="FFFFFF">
              <a:alpha val="70000"/>
            </a:srgbClr>
          </a:solidFill>
          <a:ln/>
        </p:spPr>
      </p:sp>
      <p:sp>
        <p:nvSpPr>
          <p:cNvPr id="19" name="Shape 16"/>
          <p:cNvSpPr/>
          <p:nvPr/>
        </p:nvSpPr>
        <p:spPr>
          <a:xfrm>
            <a:off x="238125" y="2600325"/>
            <a:ext cx="1047750" cy="600075"/>
          </a:xfrm>
          <a:prstGeom prst="rect">
            <a:avLst/>
          </a:prstGeom>
          <a:noFill/>
          <a:ln/>
        </p:spPr>
      </p:sp>
      <p:sp>
        <p:nvSpPr>
          <p:cNvPr id="20" name="Text 17"/>
          <p:cNvSpPr/>
          <p:nvPr/>
        </p:nvSpPr>
        <p:spPr>
          <a:xfrm>
            <a:off x="352425" y="2686050"/>
            <a:ext cx="838200" cy="14287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Arkade</a:t>
            </a:r>
            <a:endParaRPr lang="en-US" sz="855" dirty="0"/>
          </a:p>
        </p:txBody>
      </p:sp>
      <p:sp>
        <p:nvSpPr>
          <p:cNvPr id="21" name="Shape 18"/>
          <p:cNvSpPr/>
          <p:nvPr/>
        </p:nvSpPr>
        <p:spPr>
          <a:xfrm>
            <a:off x="1285875" y="2600325"/>
            <a:ext cx="3143250" cy="600075"/>
          </a:xfrm>
          <a:prstGeom prst="rect">
            <a:avLst/>
          </a:prstGeom>
          <a:noFill/>
          <a:ln/>
        </p:spPr>
      </p:sp>
      <p:sp>
        <p:nvSpPr>
          <p:cNvPr id="22" name="Text 19"/>
          <p:cNvSpPr/>
          <p:nvPr/>
        </p:nvSpPr>
        <p:spPr>
          <a:xfrm>
            <a:off x="1400175" y="2686050"/>
            <a:ext cx="2933700" cy="42862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Intent delegation</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pre-signed intents let one or more delegates refresh for you — no key handoff,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1-of-N honest</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is enough</a:t>
            </a:r>
            <a:endParaRPr lang="en-US" sz="855" dirty="0"/>
          </a:p>
        </p:txBody>
      </p:sp>
      <p:sp>
        <p:nvSpPr>
          <p:cNvPr id="23" name="Shape 20"/>
          <p:cNvSpPr/>
          <p:nvPr/>
        </p:nvSpPr>
        <p:spPr>
          <a:xfrm>
            <a:off x="4429125" y="2600325"/>
            <a:ext cx="1333500" cy="600075"/>
          </a:xfrm>
          <a:prstGeom prst="rect">
            <a:avLst/>
          </a:prstGeom>
          <a:noFill/>
          <a:ln/>
        </p:spPr>
      </p:sp>
      <p:sp>
        <p:nvSpPr>
          <p:cNvPr id="24" name="Text 21"/>
          <p:cNvSpPr/>
          <p:nvPr/>
        </p:nvSpPr>
        <p:spPr>
          <a:xfrm>
            <a:off x="4543425" y="2686050"/>
            <a:ext cx="1123950" cy="142875"/>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Shipped</a:t>
            </a:r>
            <a:endParaRPr lang="en-US" sz="855" dirty="0"/>
          </a:p>
        </p:txBody>
      </p:sp>
      <p:sp>
        <p:nvSpPr>
          <p:cNvPr id="25" name="Shape 22"/>
          <p:cNvSpPr/>
          <p:nvPr/>
        </p:nvSpPr>
        <p:spPr>
          <a:xfrm>
            <a:off x="5762625" y="2600325"/>
            <a:ext cx="3143250" cy="600075"/>
          </a:xfrm>
          <a:prstGeom prst="rect">
            <a:avLst/>
          </a:prstGeom>
          <a:noFill/>
          <a:ln/>
        </p:spPr>
      </p:sp>
      <p:sp>
        <p:nvSpPr>
          <p:cNvPr id="26" name="Text 23"/>
          <p:cNvSpPr/>
          <p:nvPr/>
        </p:nvSpPr>
        <p:spPr>
          <a:xfrm>
            <a:off x="5876925" y="2686050"/>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Delegated renewals stay in preconfirmation — no Bitcoin finality unless you settle yourself</a:t>
            </a:r>
            <a:endParaRPr lang="en-US" sz="855" dirty="0"/>
          </a:p>
        </p:txBody>
      </p:sp>
      <p:sp>
        <p:nvSpPr>
          <p:cNvPr id="27" name="Shape 24"/>
          <p:cNvSpPr/>
          <p:nvPr/>
        </p:nvSpPr>
        <p:spPr>
          <a:xfrm>
            <a:off x="238125" y="3200400"/>
            <a:ext cx="8667750" cy="457200"/>
          </a:xfrm>
          <a:prstGeom prst="rect">
            <a:avLst/>
          </a:prstGeom>
          <a:solidFill>
            <a:srgbClr val="EFEFF8"/>
          </a:solidFill>
          <a:ln/>
        </p:spPr>
      </p:sp>
      <p:sp>
        <p:nvSpPr>
          <p:cNvPr id="28" name="Shape 25"/>
          <p:cNvSpPr/>
          <p:nvPr/>
        </p:nvSpPr>
        <p:spPr>
          <a:xfrm>
            <a:off x="238125" y="3200400"/>
            <a:ext cx="1047750" cy="457200"/>
          </a:xfrm>
          <a:prstGeom prst="rect">
            <a:avLst/>
          </a:prstGeom>
          <a:noFill/>
          <a:ln/>
        </p:spPr>
      </p:sp>
      <p:sp>
        <p:nvSpPr>
          <p:cNvPr id="29" name="Text 26"/>
          <p:cNvSpPr/>
          <p:nvPr/>
        </p:nvSpPr>
        <p:spPr>
          <a:xfrm>
            <a:off x="352425" y="3286125"/>
            <a:ext cx="838200" cy="14287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Second</a:t>
            </a:r>
            <a:endParaRPr lang="en-US" sz="855" dirty="0"/>
          </a:p>
        </p:txBody>
      </p:sp>
      <p:sp>
        <p:nvSpPr>
          <p:cNvPr id="30" name="Shape 27"/>
          <p:cNvSpPr/>
          <p:nvPr/>
        </p:nvSpPr>
        <p:spPr>
          <a:xfrm>
            <a:off x="1285875" y="3200400"/>
            <a:ext cx="3143250" cy="457200"/>
          </a:xfrm>
          <a:prstGeom prst="rect">
            <a:avLst/>
          </a:prstGeom>
          <a:noFill/>
          <a:ln/>
        </p:spPr>
      </p:sp>
      <p:sp>
        <p:nvSpPr>
          <p:cNvPr id="31" name="Text 28"/>
          <p:cNvSpPr/>
          <p:nvPr/>
        </p:nvSpPr>
        <p:spPr>
          <a:xfrm>
            <a:off x="1400175" y="3286125"/>
            <a:ext cx="2933700" cy="285750"/>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hArk non-interactive rounds</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participants claim asynchronously; delegated refresh APIs</a:t>
            </a:r>
            <a:endParaRPr lang="en-US" sz="855" dirty="0"/>
          </a:p>
        </p:txBody>
      </p:sp>
      <p:sp>
        <p:nvSpPr>
          <p:cNvPr id="32" name="Shape 29"/>
          <p:cNvSpPr/>
          <p:nvPr/>
        </p:nvSpPr>
        <p:spPr>
          <a:xfrm>
            <a:off x="4429125" y="3200400"/>
            <a:ext cx="1333500" cy="457200"/>
          </a:xfrm>
          <a:prstGeom prst="rect">
            <a:avLst/>
          </a:prstGeom>
          <a:noFill/>
          <a:ln/>
        </p:spPr>
      </p:sp>
      <p:sp>
        <p:nvSpPr>
          <p:cNvPr id="33" name="Text 30"/>
          <p:cNvSpPr/>
          <p:nvPr/>
        </p:nvSpPr>
        <p:spPr>
          <a:xfrm>
            <a:off x="4543425" y="3286125"/>
            <a:ext cx="112395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hArk shipped</a:t>
            </a:r>
            <a:endParaRPr lang="en-US" sz="855" dirty="0"/>
          </a:p>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co-signers WIP</a:t>
            </a:r>
            <a:endParaRPr lang="en-US" sz="855" dirty="0"/>
          </a:p>
        </p:txBody>
      </p:sp>
      <p:sp>
        <p:nvSpPr>
          <p:cNvPr id="34" name="Shape 31"/>
          <p:cNvSpPr/>
          <p:nvPr/>
        </p:nvSpPr>
        <p:spPr>
          <a:xfrm>
            <a:off x="5762625" y="3200400"/>
            <a:ext cx="3143250" cy="457200"/>
          </a:xfrm>
          <a:prstGeom prst="rect">
            <a:avLst/>
          </a:prstGeom>
          <a:noFill/>
          <a:ln/>
        </p:spPr>
      </p:sp>
      <p:sp>
        <p:nvSpPr>
          <p:cNvPr id="35" name="Text 32"/>
          <p:cNvSpPr/>
          <p:nvPr/>
        </p:nvSpPr>
        <p:spPr>
          <a:xfrm>
            <a:off x="5876925" y="3286125"/>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Until co-signers ship, delegated refresh trusts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the server alone</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during the round</a:t>
            </a:r>
            <a:endParaRPr lang="en-US" sz="855" dirty="0"/>
          </a:p>
        </p:txBody>
      </p:sp>
      <p:sp>
        <p:nvSpPr>
          <p:cNvPr id="36" name="Shape 33"/>
          <p:cNvSpPr/>
          <p:nvPr/>
        </p:nvSpPr>
        <p:spPr>
          <a:xfrm>
            <a:off x="238125" y="3657600"/>
            <a:ext cx="8667750" cy="457200"/>
          </a:xfrm>
          <a:prstGeom prst="rect">
            <a:avLst/>
          </a:prstGeom>
          <a:solidFill>
            <a:srgbClr val="FFFFFF">
              <a:alpha val="70000"/>
            </a:srgbClr>
          </a:solidFill>
          <a:ln/>
        </p:spPr>
      </p:sp>
      <p:sp>
        <p:nvSpPr>
          <p:cNvPr id="37" name="Shape 34"/>
          <p:cNvSpPr/>
          <p:nvPr/>
        </p:nvSpPr>
        <p:spPr>
          <a:xfrm>
            <a:off x="238125" y="3657600"/>
            <a:ext cx="1047750" cy="457200"/>
          </a:xfrm>
          <a:prstGeom prst="rect">
            <a:avLst/>
          </a:prstGeom>
          <a:noFill/>
          <a:ln/>
        </p:spPr>
      </p:sp>
      <p:sp>
        <p:nvSpPr>
          <p:cNvPr id="38" name="Text 35"/>
          <p:cNvSpPr/>
          <p:nvPr/>
        </p:nvSpPr>
        <p:spPr>
          <a:xfrm>
            <a:off x="352425" y="3743325"/>
            <a:ext cx="838200" cy="14287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Spark</a:t>
            </a:r>
            <a:endParaRPr lang="en-US" sz="855" dirty="0"/>
          </a:p>
        </p:txBody>
      </p:sp>
      <p:sp>
        <p:nvSpPr>
          <p:cNvPr id="39" name="Shape 36"/>
          <p:cNvSpPr/>
          <p:nvPr/>
        </p:nvSpPr>
        <p:spPr>
          <a:xfrm>
            <a:off x="1285875" y="3657600"/>
            <a:ext cx="3143250" cy="457200"/>
          </a:xfrm>
          <a:prstGeom prst="rect">
            <a:avLst/>
          </a:prstGeom>
          <a:noFill/>
          <a:ln/>
        </p:spPr>
      </p:sp>
      <p:sp>
        <p:nvSpPr>
          <p:cNvPr id="40" name="Text 37"/>
          <p:cNvSpPr/>
          <p:nvPr/>
        </p:nvSpPr>
        <p:spPr>
          <a:xfrm>
            <a:off x="1400175" y="3743325"/>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No expiry at all — relative timelocks only decrement on transfer; no deadline while holding</a:t>
            </a:r>
            <a:endParaRPr lang="en-US" sz="855" dirty="0"/>
          </a:p>
        </p:txBody>
      </p:sp>
      <p:sp>
        <p:nvSpPr>
          <p:cNvPr id="41" name="Shape 38"/>
          <p:cNvSpPr/>
          <p:nvPr/>
        </p:nvSpPr>
        <p:spPr>
          <a:xfrm>
            <a:off x="4429125" y="3657600"/>
            <a:ext cx="1333500" cy="457200"/>
          </a:xfrm>
          <a:prstGeom prst="rect">
            <a:avLst/>
          </a:prstGeom>
          <a:noFill/>
          <a:ln/>
        </p:spPr>
      </p:sp>
      <p:sp>
        <p:nvSpPr>
          <p:cNvPr id="42" name="Text 39"/>
          <p:cNvSpPr/>
          <p:nvPr/>
        </p:nvSpPr>
        <p:spPr>
          <a:xfrm>
            <a:off x="4543425" y="3743325"/>
            <a:ext cx="1123950" cy="142875"/>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N/A</a:t>
            </a:r>
            <a:endParaRPr lang="en-US" sz="855" dirty="0"/>
          </a:p>
        </p:txBody>
      </p:sp>
      <p:sp>
        <p:nvSpPr>
          <p:cNvPr id="43" name="Shape 40"/>
          <p:cNvSpPr/>
          <p:nvPr/>
        </p:nvSpPr>
        <p:spPr>
          <a:xfrm>
            <a:off x="5762625" y="3657600"/>
            <a:ext cx="3143250" cy="457200"/>
          </a:xfrm>
          <a:prstGeom prst="rect">
            <a:avLst/>
          </a:prstGeom>
          <a:noFill/>
          <a:ln/>
        </p:spPr>
      </p:sp>
      <p:sp>
        <p:nvSpPr>
          <p:cNvPr id="44" name="Text 41"/>
          <p:cNvSpPr/>
          <p:nvPr/>
        </p:nvSpPr>
        <p:spPr>
          <a:xfrm>
            <a:off x="5876925" y="3743325"/>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Trades the expiry problem for the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unprovable key-deletion</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problem</a:t>
            </a:r>
            <a:endParaRPr lang="en-US" sz="855" dirty="0"/>
          </a:p>
        </p:txBody>
      </p:sp>
      <p:sp>
        <p:nvSpPr>
          <p:cNvPr id="45" name="Shape 42"/>
          <p:cNvSpPr/>
          <p:nvPr/>
        </p:nvSpPr>
        <p:spPr>
          <a:xfrm>
            <a:off x="0" y="0"/>
            <a:ext cx="9144000" cy="595313"/>
          </a:xfrm>
          <a:prstGeom prst="rect">
            <a:avLst/>
          </a:prstGeom>
          <a:noFill/>
          <a:ln/>
        </p:spPr>
      </p:sp>
      <p:sp>
        <p:nvSpPr>
          <p:cNvPr id="46" name="Shape 43"/>
          <p:cNvSpPr/>
          <p:nvPr/>
        </p:nvSpPr>
        <p:spPr>
          <a:xfrm>
            <a:off x="238125" y="238125"/>
            <a:ext cx="8667750" cy="357188"/>
          </a:xfrm>
          <a:prstGeom prst="rect">
            <a:avLst/>
          </a:prstGeom>
          <a:noFill/>
          <a:ln/>
        </p:spPr>
      </p:sp>
      <p:pic>
        <p:nvPicPr>
          <p:cNvPr id="47"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257675"/>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Problem: finality</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sp>
        <p:nvSpPr>
          <p:cNvPr id="7" name="Text 4"/>
          <p:cNvSpPr/>
          <p:nvPr/>
        </p:nvSpPr>
        <p:spPr>
          <a:xfrm>
            <a:off x="238125" y="1695450"/>
            <a:ext cx="8429625" cy="542925"/>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Instant off-chain payments can't have on-chain finality by default. Who can double-spend you — and can you upgrade to true finality?</a:t>
            </a:r>
            <a:endParaRPr lang="en-US" sz="1069" dirty="0"/>
          </a:p>
        </p:txBody>
      </p:sp>
      <p:sp>
        <p:nvSpPr>
          <p:cNvPr id="8" name="Shape 5"/>
          <p:cNvSpPr/>
          <p:nvPr/>
        </p:nvSpPr>
        <p:spPr>
          <a:xfrm>
            <a:off x="238125" y="2286000"/>
            <a:ext cx="8667750" cy="1971675"/>
          </a:xfrm>
          <a:prstGeom prst="roundRect">
            <a:avLst>
              <a:gd name="adj" fmla="val 6493"/>
            </a:avLst>
          </a:prstGeom>
          <a:noFill/>
          <a:ln w="9049">
            <a:solidFill>
              <a:srgbClr val="312938">
                <a:alpha val="25000"/>
              </a:srgbClr>
            </a:solidFill>
            <a:prstDash val="solid"/>
          </a:ln>
        </p:spPr>
      </p:sp>
      <p:sp>
        <p:nvSpPr>
          <p:cNvPr id="9" name="Shape 6"/>
          <p:cNvSpPr/>
          <p:nvPr/>
        </p:nvSpPr>
        <p:spPr>
          <a:xfrm>
            <a:off x="238125" y="2286000"/>
            <a:ext cx="8667750" cy="314325"/>
          </a:xfrm>
          <a:prstGeom prst="rect">
            <a:avLst/>
          </a:prstGeom>
          <a:solidFill>
            <a:srgbClr val="312938"/>
          </a:solidFill>
          <a:ln/>
        </p:spPr>
      </p:sp>
      <p:sp>
        <p:nvSpPr>
          <p:cNvPr id="10" name="Shape 7"/>
          <p:cNvSpPr/>
          <p:nvPr/>
        </p:nvSpPr>
        <p:spPr>
          <a:xfrm>
            <a:off x="238125" y="2286000"/>
            <a:ext cx="1047750" cy="314325"/>
          </a:xfrm>
          <a:prstGeom prst="rect">
            <a:avLst/>
          </a:prstGeom>
          <a:noFill/>
          <a:ln/>
        </p:spPr>
      </p:sp>
      <p:sp>
        <p:nvSpPr>
          <p:cNvPr id="11" name="Text 8"/>
          <p:cNvSpPr/>
          <p:nvPr/>
        </p:nvSpPr>
        <p:spPr>
          <a:xfrm>
            <a:off x="352425" y="2371725"/>
            <a:ext cx="838200" cy="142875"/>
          </a:xfrm>
          <a:prstGeom prst="rect">
            <a:avLst/>
          </a:prstGeom>
          <a:noFill/>
          <a:ln/>
        </p:spPr>
        <p:txBody>
          <a:bodyPr wrap="square" lIns="0" tIns="0" rIns="0" bIns="0" rtlCol="0" anchor="t"/>
          <a:lstStyle/>
          <a:p>
            <a:pPr indent="0" marL="0">
              <a:buNone/>
            </a:pPr>
            <a:endParaRPr lang="en-US" dirty="0"/>
          </a:p>
        </p:txBody>
      </p:sp>
      <p:sp>
        <p:nvSpPr>
          <p:cNvPr id="12" name="Shape 9"/>
          <p:cNvSpPr/>
          <p:nvPr/>
        </p:nvSpPr>
        <p:spPr>
          <a:xfrm>
            <a:off x="1285875" y="2286000"/>
            <a:ext cx="3143250" cy="314325"/>
          </a:xfrm>
          <a:prstGeom prst="rect">
            <a:avLst/>
          </a:prstGeom>
          <a:noFill/>
          <a:ln/>
        </p:spPr>
      </p:sp>
      <p:sp>
        <p:nvSpPr>
          <p:cNvPr id="13" name="Text 10"/>
          <p:cNvSpPr/>
          <p:nvPr/>
        </p:nvSpPr>
        <p:spPr>
          <a:xfrm>
            <a:off x="1400175" y="2371725"/>
            <a:ext cx="2933700" cy="142875"/>
          </a:xfrm>
          <a:prstGeom prst="rect">
            <a:avLst/>
          </a:prstGeom>
          <a:noFill/>
          <a:ln/>
        </p:spPr>
        <p:txBody>
          <a:bodyPr wrap="square" lIns="0" tIns="0" rIns="0" bIns="0" rtlCol="0" anchor="t"/>
          <a:lstStyle/>
          <a:p>
            <a:pPr algn="l" indent="0" marL="0">
              <a:lnSpc>
                <a:spcPts val="1077"/>
              </a:lnSpc>
              <a:buNone/>
            </a:pPr>
            <a:r>
              <a:rPr lang="en-US" sz="855" b="1" dirty="0">
                <a:solidFill>
                  <a:srgbClr val="FFFFFF">
                    <a:alpha val="99000"/>
                  </a:srgbClr>
                </a:solidFill>
                <a:latin typeface="Wix Madefor Text" pitchFamily="34" charset="0"/>
                <a:ea typeface="Wix Madefor Text" pitchFamily="34" charset="-122"/>
                <a:cs typeface="Wix Madefor Text" pitchFamily="34" charset="-120"/>
              </a:rPr>
              <a:t>Solution</a:t>
            </a:r>
            <a:endParaRPr lang="en-US" sz="855" dirty="0"/>
          </a:p>
        </p:txBody>
      </p:sp>
      <p:sp>
        <p:nvSpPr>
          <p:cNvPr id="14" name="Shape 11"/>
          <p:cNvSpPr/>
          <p:nvPr/>
        </p:nvSpPr>
        <p:spPr>
          <a:xfrm>
            <a:off x="4429125" y="2286000"/>
            <a:ext cx="1333500" cy="314325"/>
          </a:xfrm>
          <a:prstGeom prst="rect">
            <a:avLst/>
          </a:prstGeom>
          <a:noFill/>
          <a:ln/>
        </p:spPr>
      </p:sp>
      <p:sp>
        <p:nvSpPr>
          <p:cNvPr id="15" name="Text 12"/>
          <p:cNvSpPr/>
          <p:nvPr/>
        </p:nvSpPr>
        <p:spPr>
          <a:xfrm>
            <a:off x="4543425" y="2371725"/>
            <a:ext cx="1123950" cy="142875"/>
          </a:xfrm>
          <a:prstGeom prst="rect">
            <a:avLst/>
          </a:prstGeom>
          <a:noFill/>
          <a:ln/>
        </p:spPr>
        <p:txBody>
          <a:bodyPr wrap="square" lIns="0" tIns="0" rIns="0" bIns="0" rtlCol="0" anchor="t"/>
          <a:lstStyle/>
          <a:p>
            <a:pPr algn="l" indent="0" marL="0">
              <a:lnSpc>
                <a:spcPts val="1077"/>
              </a:lnSpc>
              <a:buNone/>
            </a:pPr>
            <a:r>
              <a:rPr lang="en-US" sz="855" b="1" dirty="0">
                <a:solidFill>
                  <a:srgbClr val="FFFFFF">
                    <a:alpha val="99000"/>
                  </a:srgbClr>
                </a:solidFill>
                <a:latin typeface="Wix Madefor Text" pitchFamily="34" charset="0"/>
                <a:ea typeface="Wix Madefor Text" pitchFamily="34" charset="-122"/>
                <a:cs typeface="Wix Madefor Text" pitchFamily="34" charset="-120"/>
              </a:rPr>
              <a:t>Status</a:t>
            </a:r>
            <a:endParaRPr lang="en-US" sz="855" dirty="0"/>
          </a:p>
        </p:txBody>
      </p:sp>
      <p:sp>
        <p:nvSpPr>
          <p:cNvPr id="16" name="Shape 13"/>
          <p:cNvSpPr/>
          <p:nvPr/>
        </p:nvSpPr>
        <p:spPr>
          <a:xfrm>
            <a:off x="5762625" y="2286000"/>
            <a:ext cx="3143250" cy="314325"/>
          </a:xfrm>
          <a:prstGeom prst="rect">
            <a:avLst/>
          </a:prstGeom>
          <a:noFill/>
          <a:ln/>
        </p:spPr>
      </p:sp>
      <p:sp>
        <p:nvSpPr>
          <p:cNvPr id="17" name="Text 14"/>
          <p:cNvSpPr/>
          <p:nvPr/>
        </p:nvSpPr>
        <p:spPr>
          <a:xfrm>
            <a:off x="5876925" y="2371725"/>
            <a:ext cx="2933700" cy="142875"/>
          </a:xfrm>
          <a:prstGeom prst="rect">
            <a:avLst/>
          </a:prstGeom>
          <a:noFill/>
          <a:ln/>
        </p:spPr>
        <p:txBody>
          <a:bodyPr wrap="square" lIns="0" tIns="0" rIns="0" bIns="0" rtlCol="0" anchor="t"/>
          <a:lstStyle/>
          <a:p>
            <a:pPr algn="l" indent="0" marL="0">
              <a:lnSpc>
                <a:spcPts val="1077"/>
              </a:lnSpc>
              <a:buNone/>
            </a:pPr>
            <a:r>
              <a:rPr lang="en-US" sz="855" b="1" dirty="0">
                <a:solidFill>
                  <a:srgbClr val="FFFFFF">
                    <a:alpha val="99000"/>
                  </a:srgbClr>
                </a:solidFill>
                <a:latin typeface="Wix Madefor Text" pitchFamily="34" charset="0"/>
                <a:ea typeface="Wix Madefor Text" pitchFamily="34" charset="-122"/>
                <a:cs typeface="Wix Madefor Text" pitchFamily="34" charset="-120"/>
              </a:rPr>
              <a:t>Tradeoff</a:t>
            </a:r>
            <a:endParaRPr lang="en-US" sz="855" dirty="0"/>
          </a:p>
        </p:txBody>
      </p:sp>
      <p:sp>
        <p:nvSpPr>
          <p:cNvPr id="18" name="Shape 15"/>
          <p:cNvSpPr/>
          <p:nvPr/>
        </p:nvSpPr>
        <p:spPr>
          <a:xfrm>
            <a:off x="238125" y="2600325"/>
            <a:ext cx="8667750" cy="600075"/>
          </a:xfrm>
          <a:prstGeom prst="rect">
            <a:avLst/>
          </a:prstGeom>
          <a:solidFill>
            <a:srgbClr val="FFFFFF">
              <a:alpha val="70000"/>
            </a:srgbClr>
          </a:solidFill>
          <a:ln/>
        </p:spPr>
      </p:sp>
      <p:sp>
        <p:nvSpPr>
          <p:cNvPr id="19" name="Shape 16"/>
          <p:cNvSpPr/>
          <p:nvPr/>
        </p:nvSpPr>
        <p:spPr>
          <a:xfrm>
            <a:off x="238125" y="2600325"/>
            <a:ext cx="1047750" cy="600075"/>
          </a:xfrm>
          <a:prstGeom prst="rect">
            <a:avLst/>
          </a:prstGeom>
          <a:noFill/>
          <a:ln/>
        </p:spPr>
      </p:sp>
      <p:sp>
        <p:nvSpPr>
          <p:cNvPr id="20" name="Text 17"/>
          <p:cNvSpPr/>
          <p:nvPr/>
        </p:nvSpPr>
        <p:spPr>
          <a:xfrm>
            <a:off x="352425" y="2686050"/>
            <a:ext cx="838200" cy="14287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Arkade</a:t>
            </a:r>
            <a:endParaRPr lang="en-US" sz="855" dirty="0"/>
          </a:p>
        </p:txBody>
      </p:sp>
      <p:sp>
        <p:nvSpPr>
          <p:cNvPr id="21" name="Shape 18"/>
          <p:cNvSpPr/>
          <p:nvPr/>
        </p:nvSpPr>
        <p:spPr>
          <a:xfrm>
            <a:off x="1285875" y="2600325"/>
            <a:ext cx="3143250" cy="600075"/>
          </a:xfrm>
          <a:prstGeom prst="rect">
            <a:avLst/>
          </a:prstGeom>
          <a:noFill/>
          <a:ln/>
        </p:spPr>
      </p:sp>
      <p:sp>
        <p:nvSpPr>
          <p:cNvPr id="22" name="Text 19"/>
          <p:cNvSpPr/>
          <p:nvPr/>
        </p:nvSpPr>
        <p:spPr>
          <a:xfrm>
            <a:off x="1400175" y="2686050"/>
            <a:ext cx="2933700" cy="428625"/>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Two explicit tiers: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preconfirmation</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(trust the operator won't double-sign) →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batch swap</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 full Bitcoin finality on demand</a:t>
            </a:r>
            <a:endParaRPr lang="en-US" sz="855" dirty="0"/>
          </a:p>
        </p:txBody>
      </p:sp>
      <p:sp>
        <p:nvSpPr>
          <p:cNvPr id="23" name="Shape 20"/>
          <p:cNvSpPr/>
          <p:nvPr/>
        </p:nvSpPr>
        <p:spPr>
          <a:xfrm>
            <a:off x="4429125" y="2600325"/>
            <a:ext cx="1333500" cy="600075"/>
          </a:xfrm>
          <a:prstGeom prst="rect">
            <a:avLst/>
          </a:prstGeom>
          <a:noFill/>
          <a:ln/>
        </p:spPr>
      </p:sp>
      <p:sp>
        <p:nvSpPr>
          <p:cNvPr id="24" name="Text 21"/>
          <p:cNvSpPr/>
          <p:nvPr/>
        </p:nvSpPr>
        <p:spPr>
          <a:xfrm>
            <a:off x="4543425" y="2686050"/>
            <a:ext cx="112395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Shipped</a:t>
            </a:r>
            <a:endParaRPr lang="en-US" sz="855" dirty="0"/>
          </a:p>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(mainnet)</a:t>
            </a:r>
            <a:endParaRPr lang="en-US" sz="855" dirty="0"/>
          </a:p>
        </p:txBody>
      </p:sp>
      <p:sp>
        <p:nvSpPr>
          <p:cNvPr id="25" name="Shape 22"/>
          <p:cNvSpPr/>
          <p:nvPr/>
        </p:nvSpPr>
        <p:spPr>
          <a:xfrm>
            <a:off x="5762625" y="2600325"/>
            <a:ext cx="3143250" cy="600075"/>
          </a:xfrm>
          <a:prstGeom prst="rect">
            <a:avLst/>
          </a:prstGeom>
          <a:noFill/>
          <a:ln/>
        </p:spPr>
      </p:sp>
      <p:sp>
        <p:nvSpPr>
          <p:cNvPr id="26" name="Text 23"/>
          <p:cNvSpPr/>
          <p:nvPr/>
        </p:nvSpPr>
        <p:spPr>
          <a:xfrm>
            <a:off x="5876925" y="2686050"/>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Finality is interactive — you must join the batch swap yourself; delegates can't get it for you</a:t>
            </a:r>
            <a:endParaRPr lang="en-US" sz="855" dirty="0"/>
          </a:p>
        </p:txBody>
      </p:sp>
      <p:sp>
        <p:nvSpPr>
          <p:cNvPr id="27" name="Shape 24"/>
          <p:cNvSpPr/>
          <p:nvPr/>
        </p:nvSpPr>
        <p:spPr>
          <a:xfrm>
            <a:off x="238125" y="3200400"/>
            <a:ext cx="8667750" cy="457200"/>
          </a:xfrm>
          <a:prstGeom prst="rect">
            <a:avLst/>
          </a:prstGeom>
          <a:solidFill>
            <a:srgbClr val="EFEFF8"/>
          </a:solidFill>
          <a:ln/>
        </p:spPr>
      </p:sp>
      <p:sp>
        <p:nvSpPr>
          <p:cNvPr id="28" name="Shape 25"/>
          <p:cNvSpPr/>
          <p:nvPr/>
        </p:nvSpPr>
        <p:spPr>
          <a:xfrm>
            <a:off x="238125" y="3200400"/>
            <a:ext cx="1047750" cy="457200"/>
          </a:xfrm>
          <a:prstGeom prst="rect">
            <a:avLst/>
          </a:prstGeom>
          <a:noFill/>
          <a:ln/>
        </p:spPr>
      </p:sp>
      <p:sp>
        <p:nvSpPr>
          <p:cNvPr id="29" name="Text 26"/>
          <p:cNvSpPr/>
          <p:nvPr/>
        </p:nvSpPr>
        <p:spPr>
          <a:xfrm>
            <a:off x="352425" y="3286125"/>
            <a:ext cx="838200" cy="14287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Second</a:t>
            </a:r>
            <a:endParaRPr lang="en-US" sz="855" dirty="0"/>
          </a:p>
        </p:txBody>
      </p:sp>
      <p:sp>
        <p:nvSpPr>
          <p:cNvPr id="30" name="Shape 27"/>
          <p:cNvSpPr/>
          <p:nvPr/>
        </p:nvSpPr>
        <p:spPr>
          <a:xfrm>
            <a:off x="1285875" y="3200400"/>
            <a:ext cx="3143250" cy="457200"/>
          </a:xfrm>
          <a:prstGeom prst="rect">
            <a:avLst/>
          </a:prstGeom>
          <a:noFill/>
          <a:ln/>
        </p:spPr>
      </p:sp>
      <p:sp>
        <p:nvSpPr>
          <p:cNvPr id="31" name="Text 28"/>
          <p:cNvSpPr/>
          <p:nvPr/>
        </p:nvSpPr>
        <p:spPr>
          <a:xfrm>
            <a:off x="1400175" y="3286125"/>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All payments are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arkoor</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(trust: sender + server don't collude);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refresh</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converts to a trustless in-round VTXO</a:t>
            </a:r>
            <a:endParaRPr lang="en-US" sz="855" dirty="0"/>
          </a:p>
        </p:txBody>
      </p:sp>
      <p:sp>
        <p:nvSpPr>
          <p:cNvPr id="32" name="Shape 29"/>
          <p:cNvSpPr/>
          <p:nvPr/>
        </p:nvSpPr>
        <p:spPr>
          <a:xfrm>
            <a:off x="4429125" y="3200400"/>
            <a:ext cx="1333500" cy="457200"/>
          </a:xfrm>
          <a:prstGeom prst="rect">
            <a:avLst/>
          </a:prstGeom>
          <a:noFill/>
          <a:ln/>
        </p:spPr>
      </p:sp>
      <p:sp>
        <p:nvSpPr>
          <p:cNvPr id="33" name="Text 30"/>
          <p:cNvSpPr/>
          <p:nvPr/>
        </p:nvSpPr>
        <p:spPr>
          <a:xfrm>
            <a:off x="4543425" y="3286125"/>
            <a:ext cx="112395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Shipped</a:t>
            </a:r>
            <a:endParaRPr lang="en-US" sz="855" dirty="0"/>
          </a:p>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(mainnet)</a:t>
            </a:r>
            <a:endParaRPr lang="en-US" sz="855" dirty="0"/>
          </a:p>
        </p:txBody>
      </p:sp>
      <p:sp>
        <p:nvSpPr>
          <p:cNvPr id="34" name="Shape 31"/>
          <p:cNvSpPr/>
          <p:nvPr/>
        </p:nvSpPr>
        <p:spPr>
          <a:xfrm>
            <a:off x="5762625" y="3200400"/>
            <a:ext cx="3143250" cy="457200"/>
          </a:xfrm>
          <a:prstGeom prst="rect">
            <a:avLst/>
          </a:prstGeom>
          <a:noFill/>
          <a:ln/>
        </p:spPr>
      </p:sp>
      <p:sp>
        <p:nvSpPr>
          <p:cNvPr id="35" name="Text 32"/>
          <p:cNvSpPr/>
          <p:nvPr/>
        </p:nvSpPr>
        <p:spPr>
          <a:xfrm>
            <a:off x="5876925" y="3286125"/>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No in-round payments — finality always costs a round + on-chain confirmations</a:t>
            </a:r>
            <a:endParaRPr lang="en-US" sz="855" dirty="0"/>
          </a:p>
        </p:txBody>
      </p:sp>
      <p:sp>
        <p:nvSpPr>
          <p:cNvPr id="36" name="Shape 33"/>
          <p:cNvSpPr/>
          <p:nvPr/>
        </p:nvSpPr>
        <p:spPr>
          <a:xfrm>
            <a:off x="238125" y="3657600"/>
            <a:ext cx="8667750" cy="600075"/>
          </a:xfrm>
          <a:prstGeom prst="rect">
            <a:avLst/>
          </a:prstGeom>
          <a:solidFill>
            <a:srgbClr val="FFFFFF">
              <a:alpha val="70000"/>
            </a:srgbClr>
          </a:solidFill>
          <a:ln/>
        </p:spPr>
      </p:sp>
      <p:sp>
        <p:nvSpPr>
          <p:cNvPr id="37" name="Shape 34"/>
          <p:cNvSpPr/>
          <p:nvPr/>
        </p:nvSpPr>
        <p:spPr>
          <a:xfrm>
            <a:off x="238125" y="3657600"/>
            <a:ext cx="1047750" cy="600075"/>
          </a:xfrm>
          <a:prstGeom prst="rect">
            <a:avLst/>
          </a:prstGeom>
          <a:noFill/>
          <a:ln/>
        </p:spPr>
      </p:sp>
      <p:sp>
        <p:nvSpPr>
          <p:cNvPr id="38" name="Text 35"/>
          <p:cNvSpPr/>
          <p:nvPr/>
        </p:nvSpPr>
        <p:spPr>
          <a:xfrm>
            <a:off x="352425" y="3743325"/>
            <a:ext cx="838200" cy="142875"/>
          </a:xfrm>
          <a:prstGeom prst="rect">
            <a:avLst/>
          </a:prstGeom>
          <a:noFill/>
          <a:ln/>
        </p:spPr>
        <p:txBody>
          <a:bodyPr wrap="square" lIns="0" tIns="0" rIns="0" bIns="0" rtlCol="0" anchor="t"/>
          <a:lstStyle/>
          <a:p>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Spark</a:t>
            </a:r>
            <a:endParaRPr lang="en-US" sz="855" dirty="0"/>
          </a:p>
        </p:txBody>
      </p:sp>
      <p:sp>
        <p:nvSpPr>
          <p:cNvPr id="39" name="Shape 36"/>
          <p:cNvSpPr/>
          <p:nvPr/>
        </p:nvSpPr>
        <p:spPr>
          <a:xfrm>
            <a:off x="1285875" y="3657600"/>
            <a:ext cx="3143250" cy="600075"/>
          </a:xfrm>
          <a:prstGeom prst="rect">
            <a:avLst/>
          </a:prstGeom>
          <a:noFill/>
          <a:ln/>
        </p:spPr>
      </p:sp>
      <p:sp>
        <p:nvSpPr>
          <p:cNvPr id="40" name="Text 37"/>
          <p:cNvSpPr/>
          <p:nvPr/>
        </p:nvSpPr>
        <p:spPr>
          <a:xfrm>
            <a:off x="1400175" y="3743325"/>
            <a:ext cx="293370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Funds are safe if an operator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deleted the old keyshare</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 or the previous sender stays honest</a:t>
            </a:r>
            <a:endParaRPr lang="en-US" sz="855" dirty="0"/>
          </a:p>
        </p:txBody>
      </p:sp>
      <p:sp>
        <p:nvSpPr>
          <p:cNvPr id="41" name="Shape 38"/>
          <p:cNvSpPr/>
          <p:nvPr/>
        </p:nvSpPr>
        <p:spPr>
          <a:xfrm>
            <a:off x="4429125" y="3657600"/>
            <a:ext cx="1333500" cy="600075"/>
          </a:xfrm>
          <a:prstGeom prst="rect">
            <a:avLst/>
          </a:prstGeom>
          <a:noFill/>
          <a:ln/>
        </p:spPr>
      </p:sp>
      <p:sp>
        <p:nvSpPr>
          <p:cNvPr id="42" name="Text 39"/>
          <p:cNvSpPr/>
          <p:nvPr/>
        </p:nvSpPr>
        <p:spPr>
          <a:xfrm>
            <a:off x="4543425" y="3743325"/>
            <a:ext cx="1123950" cy="285750"/>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Inherent —</a:t>
            </a:r>
            <a:endParaRPr lang="en-US" sz="855" dirty="0"/>
          </a:p>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never provable</a:t>
            </a:r>
            <a:endParaRPr lang="en-US" sz="855" dirty="0"/>
          </a:p>
        </p:txBody>
      </p:sp>
      <p:sp>
        <p:nvSpPr>
          <p:cNvPr id="43" name="Shape 40"/>
          <p:cNvSpPr/>
          <p:nvPr/>
        </p:nvSpPr>
        <p:spPr>
          <a:xfrm>
            <a:off x="5762625" y="3657600"/>
            <a:ext cx="3143250" cy="600075"/>
          </a:xfrm>
          <a:prstGeom prst="rect">
            <a:avLst/>
          </a:prstGeom>
          <a:noFill/>
          <a:ln/>
        </p:spPr>
      </p:sp>
      <p:sp>
        <p:nvSpPr>
          <p:cNvPr id="44" name="Text 41"/>
          <p:cNvSpPr/>
          <p:nvPr/>
        </p:nvSpPr>
        <p:spPr>
          <a:xfrm>
            <a:off x="5876925" y="3743325"/>
            <a:ext cx="2933700" cy="428625"/>
          </a:xfrm>
          <a:prstGeom prst="rect">
            <a:avLst/>
          </a:prstGeom>
          <a:noFill/>
          <a:ln/>
        </p:spPr>
        <p:txBody>
          <a:bodyPr wrap="square" lIns="0" tIns="0" rIns="0" bIns="0" rtlCol="0" anchor="t"/>
          <a:lstStyle/>
          <a:p>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If all operators retain keys </a:t>
            </a:r>
            <a:pPr algn="l" indent="0" marL="0">
              <a:lnSpc>
                <a:spcPts val="1077"/>
              </a:lnSpc>
              <a:buNone/>
            </a:pPr>
            <a:r>
              <a:rPr lang="en-US" sz="855" b="1" dirty="0">
                <a:solidFill>
                  <a:srgbClr val="312938">
                    <a:alpha val="99000"/>
                  </a:srgbClr>
                </a:solidFill>
                <a:latin typeface="Wix Madefor Text" pitchFamily="34" charset="0"/>
                <a:ea typeface="Wix Madefor Text" pitchFamily="34" charset="-122"/>
                <a:cs typeface="Wix Madefor Text" pitchFamily="34" charset="-120"/>
              </a:rPr>
              <a:t>and</a:t>
            </a:r>
            <a:pPr algn="l" indent="0" marL="0">
              <a:lnSpc>
                <a:spcPts val="1077"/>
              </a:lnSpc>
              <a:buNone/>
            </a:pPr>
            <a:r>
              <a:rPr lang="en-US" sz="855" dirty="0">
                <a:solidFill>
                  <a:srgbClr val="312938">
                    <a:alpha val="99000"/>
                  </a:srgbClr>
                </a:solidFill>
                <a:latin typeface="Wix Madefor Text" pitchFamily="34" charset="0"/>
                <a:ea typeface="Wix Madefor Text" pitchFamily="34" charset="-122"/>
                <a:cs typeface="Wix Madefor Text" pitchFamily="34" charset="-120"/>
              </a:rPr>
              <a:t> collude with a previous sender, leaves can be double-spent; deletion is unverifiable</a:t>
            </a:r>
            <a:endParaRPr lang="en-US" sz="855" dirty="0"/>
          </a:p>
        </p:txBody>
      </p:sp>
      <p:sp>
        <p:nvSpPr>
          <p:cNvPr id="45" name="Shape 42"/>
          <p:cNvSpPr/>
          <p:nvPr/>
        </p:nvSpPr>
        <p:spPr>
          <a:xfrm>
            <a:off x="0" y="0"/>
            <a:ext cx="9144000" cy="595313"/>
          </a:xfrm>
          <a:prstGeom prst="rect">
            <a:avLst/>
          </a:prstGeom>
          <a:noFill/>
          <a:ln/>
        </p:spPr>
      </p:sp>
      <p:sp>
        <p:nvSpPr>
          <p:cNvPr id="46" name="Shape 43"/>
          <p:cNvSpPr/>
          <p:nvPr/>
        </p:nvSpPr>
        <p:spPr>
          <a:xfrm>
            <a:off x="238125" y="238125"/>
            <a:ext cx="8667750" cy="357188"/>
          </a:xfrm>
          <a:prstGeom prst="rect">
            <a:avLst/>
          </a:prstGeom>
          <a:noFill/>
          <a:ln/>
        </p:spPr>
      </p:sp>
      <p:pic>
        <p:nvPicPr>
          <p:cNvPr id="47"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3657600"/>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Problem: privacy</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sp>
        <p:nvSpPr>
          <p:cNvPr id="7" name="Text 4"/>
          <p:cNvSpPr/>
          <p:nvPr/>
        </p:nvSpPr>
        <p:spPr>
          <a:xfrm>
            <a:off x="238125" y="1695450"/>
            <a:ext cx="8429625" cy="361950"/>
          </a:xfrm>
          <a:prstGeom prst="rect">
            <a:avLst/>
          </a:prstGeom>
          <a:noFill/>
          <a:ln/>
        </p:spPr>
        <p:txBody>
          <a:bodyPr wrap="square" lIns="0" tIns="0" rIns="0" bIns="0" rtlCol="0" anchor="t"/>
          <a:lstStyle/>
          <a:p>
            <a:pPr algn="l" indent="0" marL="0">
              <a:lnSpc>
                <a:spcPts val="1347"/>
              </a:lnSpc>
              <a:buNone/>
            </a:pPr>
            <a:r>
              <a:rPr lang="en-US" sz="1069" dirty="0">
                <a:solidFill>
                  <a:srgbClr val="312938">
                    <a:alpha val="99000"/>
                  </a:srgbClr>
                </a:solidFill>
                <a:latin typeface="Wix Madefor Text" pitchFamily="34" charset="0"/>
                <a:ea typeface="Wix Madefor Text" pitchFamily="34" charset="-122"/>
                <a:cs typeface="Wix Madefor Text" pitchFamily="34" charset="-120"/>
              </a:rPr>
              <a:t>None of these are privacy protocols — the operator co-signs and sees everything. The question is what happens to that data.</a:t>
            </a:r>
            <a:endParaRPr lang="en-US" sz="1069" dirty="0"/>
          </a:p>
        </p:txBody>
      </p:sp>
      <p:sp>
        <p:nvSpPr>
          <p:cNvPr id="8" name="Shape 5"/>
          <p:cNvSpPr/>
          <p:nvPr/>
        </p:nvSpPr>
        <p:spPr>
          <a:xfrm>
            <a:off x="238125" y="2105025"/>
            <a:ext cx="8572500" cy="1552575"/>
          </a:xfrm>
          <a:prstGeom prst="roundRect">
            <a:avLst>
              <a:gd name="adj" fmla="val 8245"/>
            </a:avLst>
          </a:prstGeom>
          <a:noFill/>
          <a:ln w="9049">
            <a:solidFill>
              <a:srgbClr val="312938">
                <a:alpha val="25000"/>
              </a:srgbClr>
            </a:solidFill>
            <a:prstDash val="solid"/>
          </a:ln>
        </p:spPr>
      </p:sp>
      <p:sp>
        <p:nvSpPr>
          <p:cNvPr id="9" name="Shape 6"/>
          <p:cNvSpPr/>
          <p:nvPr/>
        </p:nvSpPr>
        <p:spPr>
          <a:xfrm>
            <a:off x="238125" y="2105025"/>
            <a:ext cx="8572500" cy="309563"/>
          </a:xfrm>
          <a:prstGeom prst="rect">
            <a:avLst/>
          </a:prstGeom>
          <a:solidFill>
            <a:srgbClr val="312938"/>
          </a:solidFill>
          <a:ln/>
        </p:spPr>
      </p:sp>
      <p:sp>
        <p:nvSpPr>
          <p:cNvPr id="10" name="Shape 7"/>
          <p:cNvSpPr/>
          <p:nvPr/>
        </p:nvSpPr>
        <p:spPr>
          <a:xfrm>
            <a:off x="238125" y="2105025"/>
            <a:ext cx="1047750" cy="309563"/>
          </a:xfrm>
          <a:prstGeom prst="rect">
            <a:avLst/>
          </a:prstGeom>
          <a:noFill/>
          <a:ln/>
        </p:spPr>
      </p:sp>
      <p:sp>
        <p:nvSpPr>
          <p:cNvPr id="11" name="Text 8"/>
          <p:cNvSpPr/>
          <p:nvPr/>
        </p:nvSpPr>
        <p:spPr>
          <a:xfrm>
            <a:off x="342900" y="2181225"/>
            <a:ext cx="838200" cy="157163"/>
          </a:xfrm>
          <a:prstGeom prst="rect">
            <a:avLst/>
          </a:prstGeom>
          <a:noFill/>
          <a:ln/>
        </p:spPr>
        <p:txBody>
          <a:bodyPr wrap="square" lIns="0" tIns="0" rIns="0" bIns="0" rtlCol="0" anchor="t"/>
          <a:lstStyle/>
          <a:p>
            <a:pPr indent="0" marL="0">
              <a:buNone/>
            </a:pPr>
            <a:endParaRPr lang="en-US" dirty="0"/>
          </a:p>
        </p:txBody>
      </p:sp>
      <p:sp>
        <p:nvSpPr>
          <p:cNvPr id="12" name="Shape 9"/>
          <p:cNvSpPr/>
          <p:nvPr/>
        </p:nvSpPr>
        <p:spPr>
          <a:xfrm>
            <a:off x="1285875" y="2105025"/>
            <a:ext cx="3762375" cy="309563"/>
          </a:xfrm>
          <a:prstGeom prst="rect">
            <a:avLst/>
          </a:prstGeom>
          <a:noFill/>
          <a:ln/>
        </p:spPr>
      </p:sp>
      <p:sp>
        <p:nvSpPr>
          <p:cNvPr id="13" name="Text 10"/>
          <p:cNvSpPr/>
          <p:nvPr/>
        </p:nvSpPr>
        <p:spPr>
          <a:xfrm>
            <a:off x="1390650" y="2181225"/>
            <a:ext cx="3552825" cy="157163"/>
          </a:xfrm>
          <a:prstGeom prst="rect">
            <a:avLst/>
          </a:prstGeom>
          <a:noFill/>
          <a:ln/>
        </p:spPr>
        <p:txBody>
          <a:bodyPr wrap="square" lIns="0" tIns="0" rIns="0" bIns="0" rtlCol="0" anchor="t"/>
          <a:lstStyle/>
          <a:p>
            <a:pPr algn="l" indent="0" marL="0">
              <a:lnSpc>
                <a:spcPts val="1167"/>
              </a:lnSpc>
              <a:buNone/>
            </a:pPr>
            <a:r>
              <a:rPr lang="en-US" sz="926" b="1" dirty="0">
                <a:solidFill>
                  <a:srgbClr val="FFFFFF">
                    <a:alpha val="99000"/>
                  </a:srgbClr>
                </a:solidFill>
                <a:latin typeface="Wix Madefor Text" pitchFamily="34" charset="0"/>
                <a:ea typeface="Wix Madefor Text" pitchFamily="34" charset="-122"/>
                <a:cs typeface="Wix Madefor Text" pitchFamily="34" charset="-120"/>
              </a:rPr>
              <a:t>Today</a:t>
            </a:r>
            <a:endParaRPr lang="en-US" sz="926" dirty="0"/>
          </a:p>
        </p:txBody>
      </p:sp>
      <p:sp>
        <p:nvSpPr>
          <p:cNvPr id="14" name="Shape 11"/>
          <p:cNvSpPr/>
          <p:nvPr/>
        </p:nvSpPr>
        <p:spPr>
          <a:xfrm>
            <a:off x="5048250" y="2105025"/>
            <a:ext cx="3762375" cy="309563"/>
          </a:xfrm>
          <a:prstGeom prst="rect">
            <a:avLst/>
          </a:prstGeom>
          <a:noFill/>
          <a:ln/>
        </p:spPr>
      </p:sp>
      <p:sp>
        <p:nvSpPr>
          <p:cNvPr id="15" name="Text 12"/>
          <p:cNvSpPr/>
          <p:nvPr/>
        </p:nvSpPr>
        <p:spPr>
          <a:xfrm>
            <a:off x="5153025" y="2181225"/>
            <a:ext cx="3552825" cy="157163"/>
          </a:xfrm>
          <a:prstGeom prst="rect">
            <a:avLst/>
          </a:prstGeom>
          <a:noFill/>
          <a:ln/>
        </p:spPr>
        <p:txBody>
          <a:bodyPr wrap="square" lIns="0" tIns="0" rIns="0" bIns="0" rtlCol="0" anchor="t"/>
          <a:lstStyle/>
          <a:p>
            <a:pPr algn="l" indent="0" marL="0">
              <a:lnSpc>
                <a:spcPts val="1167"/>
              </a:lnSpc>
              <a:buNone/>
            </a:pPr>
            <a:r>
              <a:rPr lang="en-US" sz="926" b="1" dirty="0">
                <a:solidFill>
                  <a:srgbClr val="FFFFFF">
                    <a:alpha val="99000"/>
                  </a:srgbClr>
                </a:solidFill>
                <a:latin typeface="Wix Madefor Text" pitchFamily="34" charset="0"/>
                <a:ea typeface="Wix Madefor Text" pitchFamily="34" charset="-122"/>
                <a:cs typeface="Wix Madefor Text" pitchFamily="34" charset="-120"/>
              </a:rPr>
              <a:t>Future improvements</a:t>
            </a:r>
            <a:endParaRPr lang="en-US" sz="926" dirty="0"/>
          </a:p>
        </p:txBody>
      </p:sp>
      <p:sp>
        <p:nvSpPr>
          <p:cNvPr id="16" name="Shape 13"/>
          <p:cNvSpPr/>
          <p:nvPr/>
        </p:nvSpPr>
        <p:spPr>
          <a:xfrm>
            <a:off x="238125" y="2414588"/>
            <a:ext cx="8572500" cy="309563"/>
          </a:xfrm>
          <a:prstGeom prst="rect">
            <a:avLst/>
          </a:prstGeom>
          <a:solidFill>
            <a:srgbClr val="FFFFFF">
              <a:alpha val="70000"/>
            </a:srgbClr>
          </a:solidFill>
          <a:ln/>
        </p:spPr>
      </p:sp>
      <p:sp>
        <p:nvSpPr>
          <p:cNvPr id="17" name="Shape 14"/>
          <p:cNvSpPr/>
          <p:nvPr/>
        </p:nvSpPr>
        <p:spPr>
          <a:xfrm>
            <a:off x="238125" y="2414588"/>
            <a:ext cx="1047750" cy="309563"/>
          </a:xfrm>
          <a:prstGeom prst="rect">
            <a:avLst/>
          </a:prstGeom>
          <a:noFill/>
          <a:ln/>
        </p:spPr>
      </p:sp>
      <p:sp>
        <p:nvSpPr>
          <p:cNvPr id="18" name="Text 15"/>
          <p:cNvSpPr/>
          <p:nvPr/>
        </p:nvSpPr>
        <p:spPr>
          <a:xfrm>
            <a:off x="342900" y="2490788"/>
            <a:ext cx="838200" cy="157163"/>
          </a:xfrm>
          <a:prstGeom prst="rect">
            <a:avLst/>
          </a:prstGeom>
          <a:noFill/>
          <a:ln/>
        </p:spPr>
        <p:txBody>
          <a:bodyPr wrap="square" lIns="0" tIns="0" rIns="0" bIns="0" rtlCol="0" anchor="t"/>
          <a:lstStyle/>
          <a:p>
            <a:pPr algn="l" indent="0" marL="0">
              <a:lnSpc>
                <a:spcPts val="1167"/>
              </a:lnSpc>
              <a:buNone/>
            </a:pPr>
            <a:r>
              <a:rPr lang="en-US" sz="926" b="1" dirty="0">
                <a:solidFill>
                  <a:srgbClr val="312938">
                    <a:alpha val="99000"/>
                  </a:srgbClr>
                </a:solidFill>
                <a:latin typeface="Wix Madefor Text" pitchFamily="34" charset="0"/>
                <a:ea typeface="Wix Madefor Text" pitchFamily="34" charset="-122"/>
                <a:cs typeface="Wix Madefor Text" pitchFamily="34" charset="-120"/>
              </a:rPr>
              <a:t>Arkade</a:t>
            </a:r>
            <a:endParaRPr lang="en-US" sz="926" dirty="0"/>
          </a:p>
        </p:txBody>
      </p:sp>
      <p:sp>
        <p:nvSpPr>
          <p:cNvPr id="19" name="Shape 16"/>
          <p:cNvSpPr/>
          <p:nvPr/>
        </p:nvSpPr>
        <p:spPr>
          <a:xfrm>
            <a:off x="1285875" y="2414588"/>
            <a:ext cx="3762375" cy="309563"/>
          </a:xfrm>
          <a:prstGeom prst="rect">
            <a:avLst/>
          </a:prstGeom>
          <a:noFill/>
          <a:ln/>
        </p:spPr>
      </p:sp>
      <p:sp>
        <p:nvSpPr>
          <p:cNvPr id="20" name="Text 17"/>
          <p:cNvSpPr/>
          <p:nvPr/>
        </p:nvSpPr>
        <p:spPr>
          <a:xfrm>
            <a:off x="1390650" y="2490788"/>
            <a:ext cx="3552825" cy="157163"/>
          </a:xfrm>
          <a:prstGeom prst="rect">
            <a:avLst/>
          </a:prstGeom>
          <a:noFill/>
          <a:ln/>
        </p:spPr>
        <p:txBody>
          <a:bodyPr wrap="square" lIns="0" tIns="0" rIns="0" bIns="0" rtlCol="0" anchor="t"/>
          <a:lstStyle/>
          <a:p>
            <a:pPr algn="l" indent="0" marL="0">
              <a:lnSpc>
                <a:spcPts val="1167"/>
              </a:lnSpc>
              <a:buNone/>
            </a:pPr>
            <a:r>
              <a:rPr lang="en-US" sz="926" dirty="0">
                <a:solidFill>
                  <a:srgbClr val="312938">
                    <a:alpha val="99000"/>
                  </a:srgbClr>
                </a:solidFill>
                <a:latin typeface="Wix Madefor Text" pitchFamily="34" charset="0"/>
                <a:ea typeface="Wix Madefor Text" pitchFamily="34" charset="-122"/>
                <a:cs typeface="Wix Madefor Text" pitchFamily="34" charset="-120"/>
              </a:rPr>
              <a:t>VPN model — the operator sees your transactions</a:t>
            </a:r>
            <a:endParaRPr lang="en-US" sz="926" dirty="0"/>
          </a:p>
        </p:txBody>
      </p:sp>
      <p:sp>
        <p:nvSpPr>
          <p:cNvPr id="21" name="Shape 18"/>
          <p:cNvSpPr/>
          <p:nvPr/>
        </p:nvSpPr>
        <p:spPr>
          <a:xfrm>
            <a:off x="5048250" y="2414588"/>
            <a:ext cx="3762375" cy="309563"/>
          </a:xfrm>
          <a:prstGeom prst="rect">
            <a:avLst/>
          </a:prstGeom>
          <a:noFill/>
          <a:ln/>
        </p:spPr>
      </p:sp>
      <p:sp>
        <p:nvSpPr>
          <p:cNvPr id="22" name="Text 19"/>
          <p:cNvSpPr/>
          <p:nvPr/>
        </p:nvSpPr>
        <p:spPr>
          <a:xfrm>
            <a:off x="5153025" y="2490788"/>
            <a:ext cx="3552825" cy="157163"/>
          </a:xfrm>
          <a:prstGeom prst="rect">
            <a:avLst/>
          </a:prstGeom>
          <a:noFill/>
          <a:ln/>
        </p:spPr>
        <p:txBody>
          <a:bodyPr wrap="square" lIns="0" tIns="0" rIns="0" bIns="0" rtlCol="0" anchor="t"/>
          <a:lstStyle/>
          <a:p>
            <a:pPr algn="l" indent="0" marL="0">
              <a:lnSpc>
                <a:spcPts val="1167"/>
              </a:lnSpc>
              <a:buNone/>
            </a:pPr>
            <a:r>
              <a:rPr lang="en-US" sz="926" b="1" dirty="0">
                <a:solidFill>
                  <a:srgbClr val="312938">
                    <a:alpha val="99000"/>
                  </a:srgbClr>
                </a:solidFill>
                <a:latin typeface="Wix Madefor Text" pitchFamily="34" charset="0"/>
                <a:ea typeface="Wix Madefor Text" pitchFamily="34" charset="-122"/>
                <a:cs typeface="Wix Madefor Text" pitchFamily="34" charset="-120"/>
              </a:rPr>
              <a:t>None firmly proposed</a:t>
            </a:r>
            <a:endParaRPr lang="en-US" sz="926" dirty="0"/>
          </a:p>
        </p:txBody>
      </p:sp>
      <p:sp>
        <p:nvSpPr>
          <p:cNvPr id="23" name="Shape 20"/>
          <p:cNvSpPr/>
          <p:nvPr/>
        </p:nvSpPr>
        <p:spPr>
          <a:xfrm>
            <a:off x="238125" y="2724150"/>
            <a:ext cx="8572500" cy="466725"/>
          </a:xfrm>
          <a:prstGeom prst="rect">
            <a:avLst/>
          </a:prstGeom>
          <a:solidFill>
            <a:srgbClr val="EFEFF8"/>
          </a:solidFill>
          <a:ln/>
        </p:spPr>
      </p:sp>
      <p:sp>
        <p:nvSpPr>
          <p:cNvPr id="24" name="Shape 21"/>
          <p:cNvSpPr/>
          <p:nvPr/>
        </p:nvSpPr>
        <p:spPr>
          <a:xfrm>
            <a:off x="238125" y="2724150"/>
            <a:ext cx="1047750" cy="466725"/>
          </a:xfrm>
          <a:prstGeom prst="rect">
            <a:avLst/>
          </a:prstGeom>
          <a:noFill/>
          <a:ln/>
        </p:spPr>
      </p:sp>
      <p:sp>
        <p:nvSpPr>
          <p:cNvPr id="25" name="Text 22"/>
          <p:cNvSpPr/>
          <p:nvPr/>
        </p:nvSpPr>
        <p:spPr>
          <a:xfrm>
            <a:off x="342900" y="2800350"/>
            <a:ext cx="838200" cy="157163"/>
          </a:xfrm>
          <a:prstGeom prst="rect">
            <a:avLst/>
          </a:prstGeom>
          <a:noFill/>
          <a:ln/>
        </p:spPr>
        <p:txBody>
          <a:bodyPr wrap="square" lIns="0" tIns="0" rIns="0" bIns="0" rtlCol="0" anchor="t"/>
          <a:lstStyle/>
          <a:p>
            <a:pPr algn="l" indent="0" marL="0">
              <a:lnSpc>
                <a:spcPts val="1167"/>
              </a:lnSpc>
              <a:buNone/>
            </a:pPr>
            <a:r>
              <a:rPr lang="en-US" sz="926" b="1" dirty="0">
                <a:solidFill>
                  <a:srgbClr val="312938">
                    <a:alpha val="99000"/>
                  </a:srgbClr>
                </a:solidFill>
                <a:latin typeface="Wix Madefor Text" pitchFamily="34" charset="0"/>
                <a:ea typeface="Wix Madefor Text" pitchFamily="34" charset="-122"/>
                <a:cs typeface="Wix Madefor Text" pitchFamily="34" charset="-120"/>
              </a:rPr>
              <a:t>Second</a:t>
            </a:r>
            <a:endParaRPr lang="en-US" sz="926" dirty="0"/>
          </a:p>
        </p:txBody>
      </p:sp>
      <p:sp>
        <p:nvSpPr>
          <p:cNvPr id="26" name="Shape 23"/>
          <p:cNvSpPr/>
          <p:nvPr/>
        </p:nvSpPr>
        <p:spPr>
          <a:xfrm>
            <a:off x="1285875" y="2724150"/>
            <a:ext cx="3762375" cy="466725"/>
          </a:xfrm>
          <a:prstGeom prst="rect">
            <a:avLst/>
          </a:prstGeom>
          <a:noFill/>
          <a:ln/>
        </p:spPr>
      </p:sp>
      <p:sp>
        <p:nvSpPr>
          <p:cNvPr id="27" name="Text 24"/>
          <p:cNvSpPr/>
          <p:nvPr/>
        </p:nvSpPr>
        <p:spPr>
          <a:xfrm>
            <a:off x="1390650" y="2800350"/>
            <a:ext cx="3552825" cy="314325"/>
          </a:xfrm>
          <a:prstGeom prst="rect">
            <a:avLst/>
          </a:prstGeom>
          <a:noFill/>
          <a:ln/>
        </p:spPr>
        <p:txBody>
          <a:bodyPr wrap="square" lIns="0" tIns="0" rIns="0" bIns="0" rtlCol="0" anchor="t"/>
          <a:lstStyle/>
          <a:p>
            <a:pPr algn="l" indent="0" marL="0">
              <a:lnSpc>
                <a:spcPts val="1167"/>
              </a:lnSpc>
              <a:buNone/>
            </a:pPr>
            <a:r>
              <a:rPr lang="en-US" sz="926" dirty="0">
                <a:solidFill>
                  <a:srgbClr val="312938">
                    <a:alpha val="99000"/>
                  </a:srgbClr>
                </a:solidFill>
                <a:latin typeface="Wix Madefor Text" pitchFamily="34" charset="0"/>
                <a:ea typeface="Wix Madefor Text" pitchFamily="34" charset="-122"/>
                <a:cs typeface="Wix Madefor Text" pitchFamily="34" charset="-120"/>
              </a:rPr>
              <a:t>VPN model — server sees all transaction details; Tor + no key reuse shipped</a:t>
            </a:r>
            <a:endParaRPr lang="en-US" sz="926" dirty="0"/>
          </a:p>
        </p:txBody>
      </p:sp>
      <p:sp>
        <p:nvSpPr>
          <p:cNvPr id="28" name="Shape 25"/>
          <p:cNvSpPr/>
          <p:nvPr/>
        </p:nvSpPr>
        <p:spPr>
          <a:xfrm>
            <a:off x="5048250" y="2724150"/>
            <a:ext cx="3762375" cy="466725"/>
          </a:xfrm>
          <a:prstGeom prst="rect">
            <a:avLst/>
          </a:prstGeom>
          <a:noFill/>
          <a:ln/>
        </p:spPr>
      </p:sp>
      <p:sp>
        <p:nvSpPr>
          <p:cNvPr id="29" name="Text 26"/>
          <p:cNvSpPr/>
          <p:nvPr/>
        </p:nvSpPr>
        <p:spPr>
          <a:xfrm>
            <a:off x="5153025" y="2800350"/>
            <a:ext cx="3552825" cy="157163"/>
          </a:xfrm>
          <a:prstGeom prst="rect">
            <a:avLst/>
          </a:prstGeom>
          <a:noFill/>
          <a:ln/>
        </p:spPr>
        <p:txBody>
          <a:bodyPr wrap="square" lIns="0" tIns="0" rIns="0" bIns="0" rtlCol="0" anchor="t"/>
          <a:lstStyle/>
          <a:p>
            <a:pPr algn="l" indent="0" marL="0">
              <a:lnSpc>
                <a:spcPts val="1167"/>
              </a:lnSpc>
              <a:buNone/>
            </a:pPr>
            <a:r>
              <a:rPr lang="en-US" sz="926" b="1" dirty="0">
                <a:solidFill>
                  <a:srgbClr val="312938">
                    <a:alpha val="99000"/>
                  </a:srgbClr>
                </a:solidFill>
                <a:latin typeface="Wix Madefor Text" pitchFamily="34" charset="0"/>
                <a:ea typeface="Wix Madefor Text" pitchFamily="34" charset="-122"/>
                <a:cs typeface="Wix Madefor Text" pitchFamily="34" charset="-120"/>
              </a:rPr>
              <a:t>None firmly proposed</a:t>
            </a:r>
            <a:endParaRPr lang="en-US" sz="926" dirty="0"/>
          </a:p>
        </p:txBody>
      </p:sp>
      <p:sp>
        <p:nvSpPr>
          <p:cNvPr id="30" name="Shape 27"/>
          <p:cNvSpPr/>
          <p:nvPr/>
        </p:nvSpPr>
        <p:spPr>
          <a:xfrm>
            <a:off x="238125" y="3190875"/>
            <a:ext cx="8572500" cy="466725"/>
          </a:xfrm>
          <a:prstGeom prst="rect">
            <a:avLst/>
          </a:prstGeom>
          <a:solidFill>
            <a:srgbClr val="FFFFFF">
              <a:alpha val="70000"/>
            </a:srgbClr>
          </a:solidFill>
          <a:ln/>
        </p:spPr>
      </p:sp>
      <p:sp>
        <p:nvSpPr>
          <p:cNvPr id="31" name="Shape 28"/>
          <p:cNvSpPr/>
          <p:nvPr/>
        </p:nvSpPr>
        <p:spPr>
          <a:xfrm>
            <a:off x="238125" y="3190875"/>
            <a:ext cx="1047750" cy="466725"/>
          </a:xfrm>
          <a:prstGeom prst="rect">
            <a:avLst/>
          </a:prstGeom>
          <a:noFill/>
          <a:ln/>
        </p:spPr>
      </p:sp>
      <p:sp>
        <p:nvSpPr>
          <p:cNvPr id="32" name="Text 29"/>
          <p:cNvSpPr/>
          <p:nvPr/>
        </p:nvSpPr>
        <p:spPr>
          <a:xfrm>
            <a:off x="342900" y="3267075"/>
            <a:ext cx="838200" cy="157163"/>
          </a:xfrm>
          <a:prstGeom prst="rect">
            <a:avLst/>
          </a:prstGeom>
          <a:noFill/>
          <a:ln/>
        </p:spPr>
        <p:txBody>
          <a:bodyPr wrap="square" lIns="0" tIns="0" rIns="0" bIns="0" rtlCol="0" anchor="t"/>
          <a:lstStyle/>
          <a:p>
            <a:pPr algn="l" indent="0" marL="0">
              <a:lnSpc>
                <a:spcPts val="1167"/>
              </a:lnSpc>
              <a:buNone/>
            </a:pPr>
            <a:r>
              <a:rPr lang="en-US" sz="926" b="1" dirty="0">
                <a:solidFill>
                  <a:srgbClr val="312938">
                    <a:alpha val="99000"/>
                  </a:srgbClr>
                </a:solidFill>
                <a:latin typeface="Wix Madefor Text" pitchFamily="34" charset="0"/>
                <a:ea typeface="Wix Madefor Text" pitchFamily="34" charset="-122"/>
                <a:cs typeface="Wix Madefor Text" pitchFamily="34" charset="-120"/>
              </a:rPr>
              <a:t>Spark</a:t>
            </a:r>
            <a:endParaRPr lang="en-US" sz="926" dirty="0"/>
          </a:p>
        </p:txBody>
      </p:sp>
      <p:sp>
        <p:nvSpPr>
          <p:cNvPr id="33" name="Shape 30"/>
          <p:cNvSpPr/>
          <p:nvPr/>
        </p:nvSpPr>
        <p:spPr>
          <a:xfrm>
            <a:off x="1285875" y="3190875"/>
            <a:ext cx="3762375" cy="466725"/>
          </a:xfrm>
          <a:prstGeom prst="rect">
            <a:avLst/>
          </a:prstGeom>
          <a:noFill/>
          <a:ln/>
        </p:spPr>
      </p:sp>
      <p:sp>
        <p:nvSpPr>
          <p:cNvPr id="34" name="Text 31"/>
          <p:cNvSpPr/>
          <p:nvPr/>
        </p:nvSpPr>
        <p:spPr>
          <a:xfrm>
            <a:off x="1390650" y="3267075"/>
            <a:ext cx="3552825" cy="314325"/>
          </a:xfrm>
          <a:prstGeom prst="rect">
            <a:avLst/>
          </a:prstGeom>
          <a:noFill/>
          <a:ln/>
        </p:spPr>
        <p:txBody>
          <a:bodyPr wrap="square" lIns="0" tIns="0" rIns="0" bIns="0" rtlCol="0" anchor="t"/>
          <a:lstStyle/>
          <a:p>
            <a:pPr algn="l" indent="0" marL="0">
              <a:lnSpc>
                <a:spcPts val="1167"/>
              </a:lnSpc>
              <a:buNone/>
            </a:pPr>
            <a:r>
              <a:rPr lang="en-US" sz="926" dirty="0">
                <a:solidFill>
                  <a:srgbClr val="312938">
                    <a:alpha val="99000"/>
                  </a:srgbClr>
                </a:solidFill>
                <a:latin typeface="Wix Madefor Text" pitchFamily="34" charset="0"/>
                <a:ea typeface="Wix Madefor Text" pitchFamily="34" charset="-122"/>
                <a:cs typeface="Wix Madefor Text" pitchFamily="34" charset="-120"/>
              </a:rPr>
              <a:t>VPN model </a:t>
            </a:r>
            <a:pPr algn="l" indent="0" marL="0">
              <a:lnSpc>
                <a:spcPts val="1167"/>
              </a:lnSpc>
              <a:buNone/>
            </a:pPr>
            <a:r>
              <a:rPr lang="en-US" sz="926" dirty="0">
                <a:solidFill>
                  <a:srgbClr val="312938">
                    <a:alpha val="99000"/>
                  </a:srgbClr>
                </a:solidFill>
                <a:latin typeface="Wix Madefor Text" pitchFamily="34" charset="0"/>
                <a:ea typeface="Wix Madefor Text" pitchFamily="34" charset="-122"/>
                <a:cs typeface="Wix Madefor Text" pitchFamily="34" charset="-120"/>
              </a:rPr>
              <a:t>— server sees all transaction details</a:t>
            </a:r>
            <a:pPr algn="l" indent="0" marL="0">
              <a:lnSpc>
                <a:spcPts val="1167"/>
              </a:lnSpc>
              <a:buNone/>
            </a:pPr>
            <a:r>
              <a:rPr lang="en-US" sz="926" dirty="0">
                <a:solidFill>
                  <a:srgbClr val="312938">
                    <a:alpha val="99000"/>
                  </a:srgbClr>
                </a:solidFill>
                <a:latin typeface="Wix Madefor Text" pitchFamily="34" charset="0"/>
                <a:ea typeface="Wix Madefor Text" pitchFamily="34" charset="-122"/>
                <a:cs typeface="Wix Madefor Text" pitchFamily="34" charset="-120"/>
              </a:rPr>
              <a:t>, but doesn’t publish them</a:t>
            </a:r>
            <a:endParaRPr lang="en-US" sz="926" dirty="0"/>
          </a:p>
        </p:txBody>
      </p:sp>
      <p:sp>
        <p:nvSpPr>
          <p:cNvPr id="35" name="Shape 32"/>
          <p:cNvSpPr/>
          <p:nvPr/>
        </p:nvSpPr>
        <p:spPr>
          <a:xfrm>
            <a:off x="5048250" y="3190875"/>
            <a:ext cx="3762375" cy="466725"/>
          </a:xfrm>
          <a:prstGeom prst="rect">
            <a:avLst/>
          </a:prstGeom>
          <a:noFill/>
          <a:ln/>
        </p:spPr>
      </p:sp>
      <p:sp>
        <p:nvSpPr>
          <p:cNvPr id="36" name="Text 33"/>
          <p:cNvSpPr/>
          <p:nvPr/>
        </p:nvSpPr>
        <p:spPr>
          <a:xfrm>
            <a:off x="5153025" y="3267075"/>
            <a:ext cx="3552825" cy="157163"/>
          </a:xfrm>
          <a:prstGeom prst="rect">
            <a:avLst/>
          </a:prstGeom>
          <a:noFill/>
          <a:ln/>
        </p:spPr>
        <p:txBody>
          <a:bodyPr wrap="square" lIns="0" tIns="0" rIns="0" bIns="0" rtlCol="0" anchor="t"/>
          <a:lstStyle/>
          <a:p>
            <a:pPr algn="l" indent="0" marL="0">
              <a:lnSpc>
                <a:spcPts val="1167"/>
              </a:lnSpc>
              <a:buNone/>
            </a:pPr>
            <a:r>
              <a:rPr lang="en-US" sz="926" b="1" dirty="0">
                <a:solidFill>
                  <a:srgbClr val="312938">
                    <a:alpha val="99000"/>
                  </a:srgbClr>
                </a:solidFill>
                <a:latin typeface="Wix Madefor Text" pitchFamily="34" charset="0"/>
                <a:ea typeface="Wix Madefor Text" pitchFamily="34" charset="-122"/>
                <a:cs typeface="Wix Madefor Text" pitchFamily="34" charset="-120"/>
              </a:rPr>
              <a:t>Confidential amounts on token transfers (WIP)</a:t>
            </a:r>
            <a:endParaRPr lang="en-US" sz="926" dirty="0"/>
          </a:p>
        </p:txBody>
      </p:sp>
      <p:sp>
        <p:nvSpPr>
          <p:cNvPr id="37" name="Shape 34"/>
          <p:cNvSpPr/>
          <p:nvPr/>
        </p:nvSpPr>
        <p:spPr>
          <a:xfrm>
            <a:off x="0" y="0"/>
            <a:ext cx="9144000" cy="595313"/>
          </a:xfrm>
          <a:prstGeom prst="rect">
            <a:avLst/>
          </a:prstGeom>
          <a:noFill/>
          <a:ln/>
        </p:spPr>
      </p:sp>
      <p:sp>
        <p:nvSpPr>
          <p:cNvPr id="38" name="Shape 35"/>
          <p:cNvSpPr/>
          <p:nvPr/>
        </p:nvSpPr>
        <p:spPr>
          <a:xfrm>
            <a:off x="238125" y="238125"/>
            <a:ext cx="8667750" cy="357188"/>
          </a:xfrm>
          <a:prstGeom prst="rect">
            <a:avLst/>
          </a:prstGeom>
          <a:noFill/>
          <a:ln/>
        </p:spPr>
      </p:sp>
      <p:pic>
        <p:nvPicPr>
          <p:cNvPr id="39"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FF8"/>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4" name="Text 0"/>
          <p:cNvSpPr/>
          <p:nvPr/>
        </p:nvSpPr>
        <p:spPr>
          <a:xfrm>
            <a:off x="0" y="2090738"/>
            <a:ext cx="9144000" cy="962025"/>
          </a:xfrm>
          <a:prstGeom prst="rect">
            <a:avLst/>
          </a:prstGeom>
          <a:noFill/>
          <a:ln/>
        </p:spPr>
        <p:txBody>
          <a:bodyPr wrap="square" lIns="0" tIns="0" rIns="0" bIns="0" rtlCol="0" anchor="t"/>
          <a:lstStyle/>
          <a:p>
            <a:pPr algn="ctr"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Meet Alice</a:t>
            </a:r>
            <a:endParaRPr lang="en-US" sz="5700" dirty="0"/>
          </a:p>
        </p:txBody>
      </p:sp>
      <p:sp>
        <p:nvSpPr>
          <p:cNvPr id="5" name="Shape 1"/>
          <p:cNvSpPr/>
          <p:nvPr/>
        </p:nvSpPr>
        <p:spPr>
          <a:xfrm>
            <a:off x="0" y="0"/>
            <a:ext cx="9144000" cy="595313"/>
          </a:xfrm>
          <a:prstGeom prst="rect">
            <a:avLst/>
          </a:prstGeom>
          <a:noFill/>
          <a:ln/>
        </p:spPr>
      </p:sp>
      <p:sp>
        <p:nvSpPr>
          <p:cNvPr id="6" name="Shape 2"/>
          <p:cNvSpPr/>
          <p:nvPr/>
        </p:nvSpPr>
        <p:spPr>
          <a:xfrm>
            <a:off x="238125" y="238125"/>
            <a:ext cx="8667750" cy="357188"/>
          </a:xfrm>
          <a:prstGeom prst="rect">
            <a:avLst/>
          </a:prstGeom>
          <a:noFill/>
          <a:ln/>
        </p:spPr>
      </p:sp>
      <p:pic>
        <p:nvPicPr>
          <p:cNvPr id="7"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
        <p:nvSpPr>
          <p:cNvPr id="8" name="Text 3"/>
          <p:cNvSpPr/>
          <p:nvPr/>
        </p:nvSpPr>
        <p:spPr>
          <a:xfrm>
            <a:off x="476250" y="3238500"/>
            <a:ext cx="8191500" cy="47625"/>
          </a:xfrm>
          <a:prstGeom prst="rect">
            <a:avLst/>
          </a:prstGeom>
          <a:noFill/>
          <a:ln/>
        </p:spPr>
        <p:txBody>
          <a:bodyPr wrap="square" lIns="0" tIns="0" rIns="0" bIns="0" rtlCol="0" anchor="t"/>
          <a:lstStyle/>
          <a:p>
            <a:pPr algn="ctr" indent="0" marL="0">
              <a:lnSpc>
                <a:spcPts val="1796"/>
              </a:lnSpc>
              <a:buNone/>
            </a:pPr>
            <a:r>
              <a:rPr lang="en-US" sz="1425" dirty="0">
                <a:solidFill>
                  <a:srgbClr val="312938">
                    <a:alpha val="99000"/>
                  </a:srgbClr>
                </a:solidFill>
                <a:latin typeface="Wix Madefor Text" pitchFamily="34" charset="0"/>
                <a:ea typeface="Wix Madefor Text" pitchFamily="34" charset="-122"/>
                <a:cs typeface="Wix Madefor Text" pitchFamily="34" charset="-120"/>
              </a:rPr>
              <a:t>Mobile wallet · no node · no server · delegates everything · mostly offline</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605338"/>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962025"/>
          </a:xfrm>
          <a:prstGeom prst="rect">
            <a:avLst/>
          </a:prstGeom>
          <a:noFill/>
          <a:ln/>
        </p:spPr>
        <p:txBody>
          <a:bodyPr wrap="square" lIns="0" tIns="0" rIns="0" bIns="0" rtlCol="0" anchor="t"/>
          <a:lstStyle/>
          <a:p>
            <a:pPr algn="l"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Alice on Ark</a:t>
            </a:r>
            <a:endParaRPr lang="en-US" sz="5700" dirty="0"/>
          </a:p>
        </p:txBody>
      </p:sp>
      <p:sp>
        <p:nvSpPr>
          <p:cNvPr id="6" name="Shape 3"/>
          <p:cNvSpPr/>
          <p:nvPr/>
        </p:nvSpPr>
        <p:spPr>
          <a:xfrm>
            <a:off x="238125" y="1652588"/>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238125" y="1938337"/>
            <a:ext cx="7620000" cy="2667000"/>
          </a:xfrm>
          <a:prstGeom prst="rect">
            <a:avLst/>
          </a:prstGeom>
        </p:spPr>
      </p:pic>
      <p:sp>
        <p:nvSpPr>
          <p:cNvPr id="8" name="Shape 4"/>
          <p:cNvSpPr/>
          <p:nvPr/>
        </p:nvSpPr>
        <p:spPr>
          <a:xfrm>
            <a:off x="0" y="0"/>
            <a:ext cx="9144000" cy="595313"/>
          </a:xfrm>
          <a:prstGeom prst="rect">
            <a:avLst/>
          </a:prstGeom>
          <a:noFill/>
          <a:ln/>
        </p:spPr>
      </p:sp>
      <p:sp>
        <p:nvSpPr>
          <p:cNvPr id="9" name="Shape 5"/>
          <p:cNvSpPr/>
          <p:nvPr/>
        </p:nvSpPr>
        <p:spPr>
          <a:xfrm>
            <a:off x="238125" y="238125"/>
            <a:ext cx="8667750" cy="357188"/>
          </a:xfrm>
          <a:prstGeom prst="rect">
            <a:avLst/>
          </a:prstGeom>
          <a:noFill/>
          <a:ln/>
        </p:spPr>
      </p:sp>
      <p:pic>
        <p:nvPicPr>
          <p:cNvPr id="10"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486275"/>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962025"/>
          </a:xfrm>
          <a:prstGeom prst="rect">
            <a:avLst/>
          </a:prstGeom>
          <a:noFill/>
          <a:ln/>
        </p:spPr>
        <p:txBody>
          <a:bodyPr wrap="square" lIns="0" tIns="0" rIns="0" bIns="0" rtlCol="0" anchor="t"/>
          <a:lstStyle/>
          <a:p>
            <a:pPr algn="l"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Alice on Spark</a:t>
            </a:r>
            <a:endParaRPr lang="en-US" sz="5700" dirty="0"/>
          </a:p>
        </p:txBody>
      </p:sp>
      <p:sp>
        <p:nvSpPr>
          <p:cNvPr id="6" name="Shape 3"/>
          <p:cNvSpPr/>
          <p:nvPr/>
        </p:nvSpPr>
        <p:spPr>
          <a:xfrm>
            <a:off x="238125" y="1652588"/>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238125" y="1938337"/>
            <a:ext cx="7143750" cy="2547938"/>
          </a:xfrm>
          <a:prstGeom prst="rect">
            <a:avLst/>
          </a:prstGeom>
        </p:spPr>
      </p:pic>
      <p:sp>
        <p:nvSpPr>
          <p:cNvPr id="8" name="Shape 4"/>
          <p:cNvSpPr/>
          <p:nvPr/>
        </p:nvSpPr>
        <p:spPr>
          <a:xfrm>
            <a:off x="0" y="0"/>
            <a:ext cx="9144000" cy="595313"/>
          </a:xfrm>
          <a:prstGeom prst="rect">
            <a:avLst/>
          </a:prstGeom>
          <a:noFill/>
          <a:ln/>
        </p:spPr>
      </p:sp>
      <p:sp>
        <p:nvSpPr>
          <p:cNvPr id="9" name="Shape 5"/>
          <p:cNvSpPr/>
          <p:nvPr/>
        </p:nvSpPr>
        <p:spPr>
          <a:xfrm>
            <a:off x="238125" y="238125"/>
            <a:ext cx="8667750" cy="357188"/>
          </a:xfrm>
          <a:prstGeom prst="rect">
            <a:avLst/>
          </a:prstGeom>
          <a:noFill/>
          <a:ln/>
        </p:spPr>
      </p:sp>
      <p:pic>
        <p:nvPicPr>
          <p:cNvPr id="10"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510088"/>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719138"/>
          </a:xfrm>
          <a:prstGeom prst="rect">
            <a:avLst/>
          </a:prstGeom>
          <a:noFill/>
          <a:ln/>
        </p:spPr>
        <p:txBody>
          <a:bodyPr wrap="square" lIns="0" tIns="0" rIns="0" bIns="0" rtlCol="0" anchor="t"/>
          <a:lstStyle/>
          <a:p>
            <a:pPr algn="l" indent="0" marL="0">
              <a:lnSpc>
                <a:spcPts val="5386"/>
              </a:lnSpc>
              <a:buNone/>
            </a:pPr>
            <a:r>
              <a:rPr lang="en-US" sz="4275" spc="-256" kern="0" dirty="0">
                <a:solidFill>
                  <a:srgbClr val="312938">
                    <a:alpha val="99000"/>
                  </a:srgbClr>
                </a:solidFill>
                <a:latin typeface="Wix Madefor Text" pitchFamily="34" charset="0"/>
                <a:ea typeface="Wix Madefor Text" pitchFamily="34" charset="-122"/>
                <a:cs typeface="Wix Madefor Text" pitchFamily="34" charset="-120"/>
              </a:rPr>
              <a:t>The custody spectrum</a:t>
            </a:r>
            <a:endParaRPr lang="en-US" sz="4275" dirty="0"/>
          </a:p>
        </p:txBody>
      </p:sp>
      <p:sp>
        <p:nvSpPr>
          <p:cNvPr id="6" name="Shape 3"/>
          <p:cNvSpPr/>
          <p:nvPr/>
        </p:nvSpPr>
        <p:spPr>
          <a:xfrm>
            <a:off x="238125" y="1409700"/>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666750" y="2933700"/>
            <a:ext cx="7810500" cy="38100"/>
          </a:xfrm>
          <a:prstGeom prst="rect">
            <a:avLst/>
          </a:prstGeom>
        </p:spPr>
      </p:pic>
      <p:sp>
        <p:nvSpPr>
          <p:cNvPr id="8" name="Text 4"/>
          <p:cNvSpPr/>
          <p:nvPr/>
        </p:nvSpPr>
        <p:spPr>
          <a:xfrm>
            <a:off x="666750" y="3524250"/>
            <a:ext cx="1252538" cy="204788"/>
          </a:xfrm>
          <a:prstGeom prst="rect">
            <a:avLst/>
          </a:prstGeom>
          <a:noFill/>
          <a:ln/>
        </p:spPr>
        <p:txBody>
          <a:bodyPr wrap="square" lIns="0" tIns="0" rIns="0" bIns="0" rtlCol="0" anchor="t"/>
          <a:lstStyle/>
          <a:p>
            <a:pPr algn="l" indent="0" marL="0">
              <a:lnSpc>
                <a:spcPts val="1526"/>
              </a:lnSpc>
              <a:buNone/>
            </a:pPr>
            <a:r>
              <a:rPr lang="en-US" sz="1211" b="1" dirty="0">
                <a:solidFill>
                  <a:srgbClr val="312938">
                    <a:alpha val="99000"/>
                  </a:srgbClr>
                </a:solidFill>
                <a:latin typeface="Wix Madefor Text" pitchFamily="34" charset="0"/>
                <a:ea typeface="Wix Madefor Text" pitchFamily="34" charset="-122"/>
                <a:cs typeface="Wix Madefor Text" pitchFamily="34" charset="-120"/>
              </a:rPr>
              <a:t>← Self-custodial</a:t>
            </a:r>
            <a:endParaRPr lang="en-US" sz="1211" dirty="0"/>
          </a:p>
        </p:txBody>
      </p:sp>
      <p:sp>
        <p:nvSpPr>
          <p:cNvPr id="9" name="Text 5"/>
          <p:cNvSpPr/>
          <p:nvPr/>
        </p:nvSpPr>
        <p:spPr>
          <a:xfrm>
            <a:off x="7553325" y="3524250"/>
            <a:ext cx="923925" cy="204788"/>
          </a:xfrm>
          <a:prstGeom prst="rect">
            <a:avLst/>
          </a:prstGeom>
          <a:noFill/>
          <a:ln/>
        </p:spPr>
        <p:txBody>
          <a:bodyPr wrap="square" lIns="0" tIns="0" rIns="0" bIns="0" rtlCol="0" anchor="t"/>
          <a:lstStyle/>
          <a:p>
            <a:pPr algn="l" indent="0" marL="0">
              <a:lnSpc>
                <a:spcPts val="1526"/>
              </a:lnSpc>
              <a:buNone/>
            </a:pPr>
            <a:r>
              <a:rPr lang="en-US" sz="1211" b="1" dirty="0">
                <a:solidFill>
                  <a:srgbClr val="312938">
                    <a:alpha val="99000"/>
                  </a:srgbClr>
                </a:solidFill>
                <a:latin typeface="Wix Madefor Text" pitchFamily="34" charset="0"/>
                <a:ea typeface="Wix Madefor Text" pitchFamily="34" charset="-122"/>
                <a:cs typeface="Wix Madefor Text" pitchFamily="34" charset="-120"/>
              </a:rPr>
              <a:t>Custodial →</a:t>
            </a:r>
            <a:endParaRPr lang="en-US" sz="1211" dirty="0"/>
          </a:p>
        </p:txBody>
      </p:sp>
      <p:sp>
        <p:nvSpPr>
          <p:cNvPr id="10" name="Shape 6"/>
          <p:cNvSpPr/>
          <p:nvPr/>
        </p:nvSpPr>
        <p:spPr>
          <a:xfrm>
            <a:off x="604838" y="2890838"/>
            <a:ext cx="123825" cy="123825"/>
          </a:xfrm>
          <a:prstGeom prst="ellipse">
            <a:avLst/>
          </a:prstGeom>
          <a:solidFill>
            <a:srgbClr val="312938"/>
          </a:solidFill>
          <a:ln w="18097">
            <a:solidFill>
              <a:srgbClr val="FFFFFF"/>
            </a:solidFill>
            <a:prstDash val="solid"/>
          </a:ln>
        </p:spPr>
      </p:sp>
      <p:sp>
        <p:nvSpPr>
          <p:cNvPr id="11" name="Shape 7"/>
          <p:cNvSpPr/>
          <p:nvPr/>
        </p:nvSpPr>
        <p:spPr>
          <a:xfrm>
            <a:off x="659606" y="2728913"/>
            <a:ext cx="14288" cy="161925"/>
          </a:xfrm>
          <a:prstGeom prst="rect">
            <a:avLst/>
          </a:prstGeom>
          <a:solidFill>
            <a:srgbClr val="312938">
              <a:alpha val="45000"/>
            </a:srgbClr>
          </a:solidFill>
          <a:ln/>
        </p:spPr>
      </p:sp>
      <p:sp>
        <p:nvSpPr>
          <p:cNvPr id="12" name="Text 8"/>
          <p:cNvSpPr/>
          <p:nvPr/>
        </p:nvSpPr>
        <p:spPr>
          <a:xfrm>
            <a:off x="190500" y="2509838"/>
            <a:ext cx="1123950"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On-chain Bitcoin</a:t>
            </a:r>
            <a:endParaRPr lang="en-US" sz="1069" dirty="0"/>
          </a:p>
        </p:txBody>
      </p:sp>
      <p:sp>
        <p:nvSpPr>
          <p:cNvPr id="13" name="Shape 9"/>
          <p:cNvSpPr/>
          <p:nvPr/>
        </p:nvSpPr>
        <p:spPr>
          <a:xfrm>
            <a:off x="1385888" y="2890838"/>
            <a:ext cx="123825" cy="123825"/>
          </a:xfrm>
          <a:prstGeom prst="ellipse">
            <a:avLst/>
          </a:prstGeom>
          <a:solidFill>
            <a:srgbClr val="312938"/>
          </a:solidFill>
          <a:ln w="18097">
            <a:solidFill>
              <a:srgbClr val="FFFFFF"/>
            </a:solidFill>
            <a:prstDash val="solid"/>
          </a:ln>
        </p:spPr>
      </p:sp>
      <p:sp>
        <p:nvSpPr>
          <p:cNvPr id="14" name="Shape 10"/>
          <p:cNvSpPr/>
          <p:nvPr/>
        </p:nvSpPr>
        <p:spPr>
          <a:xfrm>
            <a:off x="1440656" y="3014663"/>
            <a:ext cx="14288" cy="161925"/>
          </a:xfrm>
          <a:prstGeom prst="rect">
            <a:avLst/>
          </a:prstGeom>
          <a:solidFill>
            <a:srgbClr val="312938">
              <a:alpha val="45000"/>
            </a:srgbClr>
          </a:solidFill>
          <a:ln/>
        </p:spPr>
      </p:sp>
      <p:sp>
        <p:nvSpPr>
          <p:cNvPr id="15" name="Text 11"/>
          <p:cNvSpPr/>
          <p:nvPr/>
        </p:nvSpPr>
        <p:spPr>
          <a:xfrm>
            <a:off x="750094" y="3233738"/>
            <a:ext cx="1395413"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Self-hosted LN node</a:t>
            </a:r>
            <a:endParaRPr lang="en-US" sz="1069" dirty="0"/>
          </a:p>
        </p:txBody>
      </p:sp>
      <p:sp>
        <p:nvSpPr>
          <p:cNvPr id="16" name="Shape 12"/>
          <p:cNvSpPr/>
          <p:nvPr/>
        </p:nvSpPr>
        <p:spPr>
          <a:xfrm>
            <a:off x="2245035" y="2890838"/>
            <a:ext cx="123825" cy="123825"/>
          </a:xfrm>
          <a:prstGeom prst="ellipse">
            <a:avLst/>
          </a:prstGeom>
          <a:solidFill>
            <a:srgbClr val="312938"/>
          </a:solidFill>
          <a:ln w="18097">
            <a:solidFill>
              <a:srgbClr val="FFFFFF"/>
            </a:solidFill>
            <a:prstDash val="solid"/>
          </a:ln>
        </p:spPr>
      </p:sp>
      <p:sp>
        <p:nvSpPr>
          <p:cNvPr id="17" name="Shape 13"/>
          <p:cNvSpPr/>
          <p:nvPr/>
        </p:nvSpPr>
        <p:spPr>
          <a:xfrm>
            <a:off x="2299804" y="2728913"/>
            <a:ext cx="14288" cy="161925"/>
          </a:xfrm>
          <a:prstGeom prst="rect">
            <a:avLst/>
          </a:prstGeom>
          <a:solidFill>
            <a:srgbClr val="312938">
              <a:alpha val="45000"/>
            </a:srgbClr>
          </a:solidFill>
          <a:ln/>
        </p:spPr>
      </p:sp>
      <p:sp>
        <p:nvSpPr>
          <p:cNvPr id="18" name="Text 14"/>
          <p:cNvSpPr/>
          <p:nvPr/>
        </p:nvSpPr>
        <p:spPr>
          <a:xfrm>
            <a:off x="1714016" y="2509838"/>
            <a:ext cx="1185863"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Lightning via LSP</a:t>
            </a:r>
            <a:endParaRPr lang="en-US" sz="1069" dirty="0"/>
          </a:p>
        </p:txBody>
      </p:sp>
      <p:sp>
        <p:nvSpPr>
          <p:cNvPr id="19" name="Shape 15"/>
          <p:cNvSpPr/>
          <p:nvPr/>
        </p:nvSpPr>
        <p:spPr>
          <a:xfrm>
            <a:off x="2676525" y="2890838"/>
            <a:ext cx="123825" cy="123825"/>
          </a:xfrm>
          <a:prstGeom prst="ellipse">
            <a:avLst/>
          </a:prstGeom>
          <a:solidFill>
            <a:srgbClr val="312938"/>
          </a:solidFill>
          <a:ln w="18097">
            <a:solidFill>
              <a:srgbClr val="FFFFFF"/>
            </a:solidFill>
            <a:prstDash val="solid"/>
          </a:ln>
        </p:spPr>
      </p:sp>
      <p:sp>
        <p:nvSpPr>
          <p:cNvPr id="20" name="Shape 16"/>
          <p:cNvSpPr/>
          <p:nvPr/>
        </p:nvSpPr>
        <p:spPr>
          <a:xfrm>
            <a:off x="2731294" y="3014663"/>
            <a:ext cx="14288" cy="161925"/>
          </a:xfrm>
          <a:prstGeom prst="rect">
            <a:avLst/>
          </a:prstGeom>
          <a:solidFill>
            <a:srgbClr val="312938">
              <a:alpha val="45000"/>
            </a:srgbClr>
          </a:solidFill>
          <a:ln/>
        </p:spPr>
      </p:sp>
      <p:sp>
        <p:nvSpPr>
          <p:cNvPr id="21" name="Text 17"/>
          <p:cNvSpPr/>
          <p:nvPr/>
        </p:nvSpPr>
        <p:spPr>
          <a:xfrm>
            <a:off x="2614613" y="3233738"/>
            <a:ext cx="247650"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Ark</a:t>
            </a:r>
            <a:endParaRPr lang="en-US" sz="1069" dirty="0"/>
          </a:p>
        </p:txBody>
      </p:sp>
      <p:sp>
        <p:nvSpPr>
          <p:cNvPr id="22" name="Shape 18"/>
          <p:cNvSpPr/>
          <p:nvPr/>
        </p:nvSpPr>
        <p:spPr>
          <a:xfrm>
            <a:off x="3112294" y="2890838"/>
            <a:ext cx="123825" cy="123825"/>
          </a:xfrm>
          <a:prstGeom prst="ellipse">
            <a:avLst/>
          </a:prstGeom>
          <a:solidFill>
            <a:srgbClr val="312938"/>
          </a:solidFill>
          <a:ln w="18097">
            <a:solidFill>
              <a:srgbClr val="FFFFFF"/>
            </a:solidFill>
            <a:prstDash val="solid"/>
          </a:ln>
        </p:spPr>
      </p:sp>
      <p:sp>
        <p:nvSpPr>
          <p:cNvPr id="23" name="Shape 19"/>
          <p:cNvSpPr/>
          <p:nvPr/>
        </p:nvSpPr>
        <p:spPr>
          <a:xfrm>
            <a:off x="3167063" y="2728913"/>
            <a:ext cx="14288" cy="161925"/>
          </a:xfrm>
          <a:prstGeom prst="rect">
            <a:avLst/>
          </a:prstGeom>
          <a:solidFill>
            <a:srgbClr val="312938">
              <a:alpha val="45000"/>
            </a:srgbClr>
          </a:solidFill>
          <a:ln/>
        </p:spPr>
      </p:sp>
      <p:sp>
        <p:nvSpPr>
          <p:cNvPr id="24" name="Text 20"/>
          <p:cNvSpPr/>
          <p:nvPr/>
        </p:nvSpPr>
        <p:spPr>
          <a:xfrm>
            <a:off x="2971800" y="2509838"/>
            <a:ext cx="404813"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Spark</a:t>
            </a:r>
            <a:endParaRPr lang="en-US" sz="1069" dirty="0"/>
          </a:p>
        </p:txBody>
      </p:sp>
      <p:sp>
        <p:nvSpPr>
          <p:cNvPr id="25" name="Shape 21"/>
          <p:cNvSpPr/>
          <p:nvPr/>
        </p:nvSpPr>
        <p:spPr>
          <a:xfrm>
            <a:off x="6005513" y="2890838"/>
            <a:ext cx="123825" cy="123825"/>
          </a:xfrm>
          <a:prstGeom prst="ellipse">
            <a:avLst/>
          </a:prstGeom>
          <a:solidFill>
            <a:srgbClr val="312938"/>
          </a:solidFill>
          <a:ln w="18097">
            <a:solidFill>
              <a:srgbClr val="FFFFFF"/>
            </a:solidFill>
            <a:prstDash val="solid"/>
          </a:ln>
        </p:spPr>
      </p:sp>
      <p:sp>
        <p:nvSpPr>
          <p:cNvPr id="26" name="Shape 22"/>
          <p:cNvSpPr/>
          <p:nvPr/>
        </p:nvSpPr>
        <p:spPr>
          <a:xfrm>
            <a:off x="6060281" y="3014663"/>
            <a:ext cx="14288" cy="161925"/>
          </a:xfrm>
          <a:prstGeom prst="rect">
            <a:avLst/>
          </a:prstGeom>
          <a:solidFill>
            <a:srgbClr val="312938">
              <a:alpha val="45000"/>
            </a:srgbClr>
          </a:solidFill>
          <a:ln/>
        </p:spPr>
      </p:sp>
      <p:sp>
        <p:nvSpPr>
          <p:cNvPr id="27" name="Text 23"/>
          <p:cNvSpPr/>
          <p:nvPr/>
        </p:nvSpPr>
        <p:spPr>
          <a:xfrm>
            <a:off x="5853113" y="3233738"/>
            <a:ext cx="428625"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Liquid</a:t>
            </a:r>
            <a:endParaRPr lang="en-US" sz="1069" dirty="0"/>
          </a:p>
        </p:txBody>
      </p:sp>
      <p:sp>
        <p:nvSpPr>
          <p:cNvPr id="28" name="Shape 24"/>
          <p:cNvSpPr/>
          <p:nvPr/>
        </p:nvSpPr>
        <p:spPr>
          <a:xfrm>
            <a:off x="6228401" y="2890838"/>
            <a:ext cx="123825" cy="123825"/>
          </a:xfrm>
          <a:prstGeom prst="ellipse">
            <a:avLst/>
          </a:prstGeom>
          <a:solidFill>
            <a:srgbClr val="312938"/>
          </a:solidFill>
          <a:ln w="18097">
            <a:solidFill>
              <a:srgbClr val="FFFFFF"/>
            </a:solidFill>
            <a:prstDash val="solid"/>
          </a:ln>
        </p:spPr>
      </p:sp>
      <p:sp>
        <p:nvSpPr>
          <p:cNvPr id="29" name="Shape 25"/>
          <p:cNvSpPr/>
          <p:nvPr/>
        </p:nvSpPr>
        <p:spPr>
          <a:xfrm>
            <a:off x="6283170" y="2728913"/>
            <a:ext cx="14288" cy="161925"/>
          </a:xfrm>
          <a:prstGeom prst="rect">
            <a:avLst/>
          </a:prstGeom>
          <a:solidFill>
            <a:srgbClr val="312938">
              <a:alpha val="45000"/>
            </a:srgbClr>
          </a:solidFill>
          <a:ln/>
        </p:spPr>
      </p:sp>
      <p:sp>
        <p:nvSpPr>
          <p:cNvPr id="30" name="Text 26"/>
          <p:cNvSpPr/>
          <p:nvPr/>
        </p:nvSpPr>
        <p:spPr>
          <a:xfrm>
            <a:off x="5990276" y="2509838"/>
            <a:ext cx="600075"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Fedimint</a:t>
            </a:r>
            <a:endParaRPr lang="en-US" sz="1069" dirty="0"/>
          </a:p>
        </p:txBody>
      </p:sp>
      <p:sp>
        <p:nvSpPr>
          <p:cNvPr id="31" name="Shape 27"/>
          <p:cNvSpPr/>
          <p:nvPr/>
        </p:nvSpPr>
        <p:spPr>
          <a:xfrm>
            <a:off x="7009451" y="2890838"/>
            <a:ext cx="123825" cy="123825"/>
          </a:xfrm>
          <a:prstGeom prst="ellipse">
            <a:avLst/>
          </a:prstGeom>
          <a:solidFill>
            <a:srgbClr val="312938"/>
          </a:solidFill>
          <a:ln w="18097">
            <a:solidFill>
              <a:srgbClr val="FFFFFF"/>
            </a:solidFill>
            <a:prstDash val="solid"/>
          </a:ln>
        </p:spPr>
      </p:sp>
      <p:sp>
        <p:nvSpPr>
          <p:cNvPr id="32" name="Shape 28"/>
          <p:cNvSpPr/>
          <p:nvPr/>
        </p:nvSpPr>
        <p:spPr>
          <a:xfrm>
            <a:off x="7064220" y="3014663"/>
            <a:ext cx="14288" cy="161925"/>
          </a:xfrm>
          <a:prstGeom prst="rect">
            <a:avLst/>
          </a:prstGeom>
          <a:solidFill>
            <a:srgbClr val="312938">
              <a:alpha val="45000"/>
            </a:srgbClr>
          </a:solidFill>
          <a:ln/>
        </p:spPr>
      </p:sp>
      <p:sp>
        <p:nvSpPr>
          <p:cNvPr id="33" name="Text 29"/>
          <p:cNvSpPr/>
          <p:nvPr/>
        </p:nvSpPr>
        <p:spPr>
          <a:xfrm>
            <a:off x="6857051" y="3233738"/>
            <a:ext cx="428625"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Cashu</a:t>
            </a:r>
            <a:endParaRPr lang="en-US" sz="1069" dirty="0"/>
          </a:p>
        </p:txBody>
      </p:sp>
      <p:sp>
        <p:nvSpPr>
          <p:cNvPr id="34" name="Shape 30"/>
          <p:cNvSpPr/>
          <p:nvPr/>
        </p:nvSpPr>
        <p:spPr>
          <a:xfrm>
            <a:off x="8415338" y="2890838"/>
            <a:ext cx="123825" cy="123825"/>
          </a:xfrm>
          <a:prstGeom prst="ellipse">
            <a:avLst/>
          </a:prstGeom>
          <a:solidFill>
            <a:srgbClr val="312938"/>
          </a:solidFill>
          <a:ln w="18097">
            <a:solidFill>
              <a:srgbClr val="FFFFFF"/>
            </a:solidFill>
            <a:prstDash val="solid"/>
          </a:ln>
        </p:spPr>
      </p:sp>
      <p:sp>
        <p:nvSpPr>
          <p:cNvPr id="35" name="Shape 31"/>
          <p:cNvSpPr/>
          <p:nvPr/>
        </p:nvSpPr>
        <p:spPr>
          <a:xfrm>
            <a:off x="8470106" y="2728913"/>
            <a:ext cx="14288" cy="161925"/>
          </a:xfrm>
          <a:prstGeom prst="rect">
            <a:avLst/>
          </a:prstGeom>
          <a:solidFill>
            <a:srgbClr val="312938">
              <a:alpha val="45000"/>
            </a:srgbClr>
          </a:solidFill>
          <a:ln/>
        </p:spPr>
      </p:sp>
      <p:sp>
        <p:nvSpPr>
          <p:cNvPr id="36" name="Text 32"/>
          <p:cNvSpPr/>
          <p:nvPr/>
        </p:nvSpPr>
        <p:spPr>
          <a:xfrm>
            <a:off x="8091488" y="2509838"/>
            <a:ext cx="771525" cy="180975"/>
          </a:xfrm>
          <a:prstGeom prst="rect">
            <a:avLst/>
          </a:prstGeom>
          <a:noFill/>
          <a:ln/>
        </p:spPr>
        <p:txBody>
          <a:bodyPr wrap="square" lIns="0" tIns="0" rIns="0" bIns="0" rtlCol="0" anchor="t"/>
          <a:lstStyle/>
          <a:p>
            <a:pPr algn="l" indent="0" marL="0">
              <a:lnSpc>
                <a:spcPts val="1347"/>
              </a:lnSpc>
              <a:buNone/>
            </a:pPr>
            <a:r>
              <a:rPr lang="en-US" sz="1069" b="1" dirty="0">
                <a:solidFill>
                  <a:srgbClr val="312938">
                    <a:alpha val="99000"/>
                  </a:srgbClr>
                </a:solidFill>
                <a:latin typeface="Wix Madefor Text" pitchFamily="34" charset="0"/>
                <a:ea typeface="Wix Madefor Text" pitchFamily="34" charset="-122"/>
                <a:cs typeface="Wix Madefor Text" pitchFamily="34" charset="-120"/>
              </a:rPr>
              <a:t>Custodians</a:t>
            </a:r>
            <a:endParaRPr lang="en-US" sz="1069" dirty="0"/>
          </a:p>
        </p:txBody>
      </p:sp>
      <p:sp>
        <p:nvSpPr>
          <p:cNvPr id="37" name="Shape 33"/>
          <p:cNvSpPr/>
          <p:nvPr/>
        </p:nvSpPr>
        <p:spPr>
          <a:xfrm>
            <a:off x="0" y="0"/>
            <a:ext cx="9144000" cy="595313"/>
          </a:xfrm>
          <a:prstGeom prst="rect">
            <a:avLst/>
          </a:prstGeom>
          <a:noFill/>
          <a:ln/>
        </p:spPr>
      </p:sp>
      <p:sp>
        <p:nvSpPr>
          <p:cNvPr id="38" name="Shape 34"/>
          <p:cNvSpPr/>
          <p:nvPr/>
        </p:nvSpPr>
        <p:spPr>
          <a:xfrm>
            <a:off x="238125" y="238125"/>
            <a:ext cx="8667750" cy="357188"/>
          </a:xfrm>
          <a:prstGeom prst="rect">
            <a:avLst/>
          </a:prstGeom>
          <a:noFill/>
          <a:ln/>
        </p:spPr>
      </p:sp>
      <p:pic>
        <p:nvPicPr>
          <p:cNvPr id="39"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4510088"/>
          </a:xfrm>
          <a:prstGeom prst="rect">
            <a:avLst/>
          </a:prstGeom>
          <a:noFill/>
          <a:ln/>
        </p:spPr>
      </p:sp>
      <p:sp>
        <p:nvSpPr>
          <p:cNvPr id="4" name="Shape 1"/>
          <p:cNvSpPr/>
          <p:nvPr/>
        </p:nvSpPr>
        <p:spPr>
          <a:xfrm>
            <a:off x="238125" y="238125"/>
            <a:ext cx="8667750" cy="357188"/>
          </a:xfrm>
          <a:prstGeom prst="rect">
            <a:avLst/>
          </a:prstGeom>
          <a:noFill/>
          <a:ln/>
        </p:spPr>
      </p:sp>
      <p:sp>
        <p:nvSpPr>
          <p:cNvPr id="5" name="Text 2"/>
          <p:cNvSpPr/>
          <p:nvPr/>
        </p:nvSpPr>
        <p:spPr>
          <a:xfrm>
            <a:off x="238125" y="642938"/>
            <a:ext cx="8667750" cy="962025"/>
          </a:xfrm>
          <a:prstGeom prst="rect">
            <a:avLst/>
          </a:prstGeom>
          <a:noFill/>
          <a:ln/>
        </p:spPr>
        <p:txBody>
          <a:bodyPr wrap="square" lIns="0" tIns="0" rIns="0" bIns="0" rtlCol="0" anchor="t"/>
          <a:lstStyle/>
          <a:p>
            <a:pPr algn="l"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Takeaways</a:t>
            </a:r>
            <a:endParaRPr lang="en-US" sz="5700" dirty="0"/>
          </a:p>
        </p:txBody>
      </p:sp>
      <p:sp>
        <p:nvSpPr>
          <p:cNvPr id="6" name="Shape 3"/>
          <p:cNvSpPr/>
          <p:nvPr/>
        </p:nvSpPr>
        <p:spPr>
          <a:xfrm>
            <a:off x="238125" y="1652588"/>
            <a:ext cx="8667750" cy="238125"/>
          </a:xfrm>
          <a:prstGeom prst="rect">
            <a:avLst/>
          </a:prstGeom>
          <a:solidFill>
            <a:srgbClr val="D9D9D9">
              <a:alpha val="0"/>
            </a:srgbClr>
          </a:solidFill>
          <a:ln/>
        </p:spPr>
      </p:sp>
      <p:pic>
        <p:nvPicPr>
          <p:cNvPr id="7" name="Image 0" descr="preencoded.png">    </p:cNvPr>
          <p:cNvPicPr>
            <a:picLocks noChangeAspect="1"/>
          </p:cNvPicPr>
          <p:nvPr/>
        </p:nvPicPr>
        <p:blipFill>
          <a:blip r:embed="rId1"/>
          <a:srcRect l="0" r="0" t="0" b="0"/>
          <a:stretch/>
        </p:blipFill>
        <p:spPr>
          <a:xfrm>
            <a:off x="238125" y="1938337"/>
            <a:ext cx="7620000" cy="2571750"/>
          </a:xfrm>
          <a:prstGeom prst="rect">
            <a:avLst/>
          </a:prstGeom>
        </p:spPr>
      </p:pic>
      <p:sp>
        <p:nvSpPr>
          <p:cNvPr id="8" name="Shape 4"/>
          <p:cNvSpPr/>
          <p:nvPr/>
        </p:nvSpPr>
        <p:spPr>
          <a:xfrm>
            <a:off x="0" y="0"/>
            <a:ext cx="9144000" cy="595313"/>
          </a:xfrm>
          <a:prstGeom prst="rect">
            <a:avLst/>
          </a:prstGeom>
          <a:noFill/>
          <a:ln/>
        </p:spPr>
      </p:sp>
      <p:sp>
        <p:nvSpPr>
          <p:cNvPr id="9" name="Shape 5"/>
          <p:cNvSpPr/>
          <p:nvPr/>
        </p:nvSpPr>
        <p:spPr>
          <a:xfrm>
            <a:off x="238125" y="238125"/>
            <a:ext cx="8667750" cy="357188"/>
          </a:xfrm>
          <a:prstGeom prst="rect">
            <a:avLst/>
          </a:prstGeom>
          <a:noFill/>
          <a:ln/>
        </p:spPr>
      </p:sp>
      <p:pic>
        <p:nvPicPr>
          <p:cNvPr id="10" name="Image 1" descr="preencoded.png">    </p:cNvPr>
          <p:cNvPicPr>
            <a:picLocks noChangeAspect="1"/>
          </p:cNvPicPr>
          <p:nvPr/>
        </p:nvPicPr>
        <p:blipFill>
          <a:blip r:embed="rId2"/>
          <a:srcRect l="0" r="0" t="0" b="0"/>
          <a:stretch/>
        </p:blipFill>
        <p:spPr>
          <a:xfrm>
            <a:off x="357188" y="238125"/>
            <a:ext cx="1428750" cy="3571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EFF8"/>
        </a:solidFill>
      </p:bgPr>
    </p:bg>
    <p:spTree>
      <p:nvGrpSpPr>
        <p:cNvPr id="1" name=""/>
        <p:cNvGrpSpPr/>
        <p:nvPr/>
      </p:nvGrpSpPr>
      <p:grpSpPr>
        <a:xfrm>
          <a:off x="0" y="0"/>
          <a:ext cx="0" cy="0"/>
          <a:chOff x="0" y="0"/>
          <a:chExt cx="0" cy="0"/>
        </a:xfrm>
      </p:grpSpPr>
      <p:sp>
        <p:nvSpPr>
          <p:cNvPr id="3" name="Shape 0"/>
          <p:cNvSpPr/>
          <p:nvPr/>
        </p:nvSpPr>
        <p:spPr>
          <a:xfrm>
            <a:off x="0" y="0"/>
            <a:ext cx="9144000" cy="595313"/>
          </a:xfrm>
          <a:prstGeom prst="rect">
            <a:avLst/>
          </a:prstGeom>
          <a:noFill/>
          <a:ln/>
        </p:spPr>
      </p:sp>
      <p:sp>
        <p:nvSpPr>
          <p:cNvPr id="4" name="Shape 1"/>
          <p:cNvSpPr/>
          <p:nvPr/>
        </p:nvSpPr>
        <p:spPr>
          <a:xfrm>
            <a:off x="238125" y="238125"/>
            <a:ext cx="8667750" cy="357188"/>
          </a:xfrm>
          <a:prstGeom prst="rect">
            <a:avLst/>
          </a:prstGeom>
          <a:noFill/>
          <a:ln/>
        </p:spPr>
      </p:sp>
      <p:pic>
        <p:nvPicPr>
          <p:cNvPr id="5" name="Image 0" descr="preencoded.png">    </p:cNvPr>
          <p:cNvPicPr>
            <a:picLocks noChangeAspect="1"/>
          </p:cNvPicPr>
          <p:nvPr/>
        </p:nvPicPr>
        <p:blipFill>
          <a:blip r:embed="rId1"/>
          <a:srcRect l="0" r="0" t="0" b="0"/>
          <a:stretch/>
        </p:blipFill>
        <p:spPr>
          <a:xfrm>
            <a:off x="357188" y="238125"/>
            <a:ext cx="1428750" cy="357188"/>
          </a:xfrm>
          <a:prstGeom prst="rect">
            <a:avLst/>
          </a:prstGeom>
        </p:spPr>
      </p:pic>
      <p:sp>
        <p:nvSpPr>
          <p:cNvPr id="6" name="Text 2"/>
          <p:cNvSpPr/>
          <p:nvPr/>
        </p:nvSpPr>
        <p:spPr>
          <a:xfrm>
            <a:off x="0" y="2090738"/>
            <a:ext cx="9144000" cy="962025"/>
          </a:xfrm>
          <a:prstGeom prst="rect">
            <a:avLst/>
          </a:prstGeom>
          <a:noFill/>
          <a:ln/>
        </p:spPr>
        <p:txBody>
          <a:bodyPr wrap="square" lIns="0" tIns="0" rIns="0" bIns="0" rtlCol="0" anchor="t"/>
          <a:lstStyle/>
          <a:p>
            <a:pPr algn="ctr" indent="0" marL="0">
              <a:lnSpc>
                <a:spcPts val="7182"/>
              </a:lnSpc>
              <a:buNone/>
            </a:pPr>
            <a:r>
              <a:rPr lang="en-US" sz="5700" spc="-342" kern="0" dirty="0">
                <a:solidFill>
                  <a:srgbClr val="312938">
                    <a:alpha val="99000"/>
                  </a:srgbClr>
                </a:solidFill>
                <a:latin typeface="Wix Madefor Text" pitchFamily="34" charset="0"/>
                <a:ea typeface="Wix Madefor Text" pitchFamily="34" charset="-122"/>
                <a:cs typeface="Wix Madefor Text" pitchFamily="34" charset="-120"/>
              </a:rPr>
              <a:t>Thank you</a:t>
            </a:r>
            <a:endParaRPr lang="en-US" sz="5700" dirty="0"/>
          </a:p>
        </p:txBody>
      </p:sp>
      <p:sp>
        <p:nvSpPr>
          <p:cNvPr id="7" name="Text 3"/>
          <p:cNvSpPr/>
          <p:nvPr/>
        </p:nvSpPr>
        <p:spPr>
          <a:xfrm>
            <a:off x="476250" y="3333750"/>
            <a:ext cx="8191500" cy="47625"/>
          </a:xfrm>
          <a:prstGeom prst="rect">
            <a:avLst/>
          </a:prstGeom>
          <a:noFill/>
          <a:ln/>
        </p:spPr>
        <p:txBody>
          <a:bodyPr wrap="square" lIns="0" tIns="0" rIns="0" bIns="0" rtlCol="0" anchor="t"/>
          <a:lstStyle/>
          <a:p>
            <a:pPr algn="ctr" indent="0" marL="0">
              <a:lnSpc>
                <a:spcPts val="2052"/>
              </a:lnSpc>
              <a:buNone/>
            </a:pPr>
            <a:r>
              <a:rPr lang="en-US" sz="1283" dirty="0">
                <a:solidFill>
                  <a:srgbClr val="312938">
                    <a:alpha val="99000"/>
                  </a:srgbClr>
                </a:solidFill>
                <a:latin typeface="Wix Madefor Text" pitchFamily="34" charset="0"/>
                <a:ea typeface="Wix Madefor Text" pitchFamily="34" charset="-122"/>
                <a:cs typeface="Wix Madefor Text" pitchFamily="34" charset="-120"/>
              </a:rPr>
              <a:t>“Spark and Ark: A Look At Our Newest Bitcoin Layer Twos” — bitcoinmagazine.com</a:t>
            </a:r>
            <a:endParaRPr lang="en-US" sz="1283" dirty="0"/>
          </a:p>
          <a:p>
            <a:pPr algn="ctr" indent="0" marL="0">
              <a:lnSpc>
                <a:spcPts val="2052"/>
              </a:lnSpc>
              <a:buNone/>
            </a:pPr>
            <a:r>
              <a:rPr lang="en-US" sz="1283" dirty="0">
                <a:solidFill>
                  <a:srgbClr val="312938">
                    <a:alpha val="99000"/>
                  </a:srgbClr>
                </a:solidFill>
                <a:latin typeface="Wix Madefor Text" pitchFamily="34" charset="0"/>
                <a:ea typeface="Wix Madefor Text" pitchFamily="34" charset="-122"/>
                <a:cs typeface="Wix Madefor Text" pitchFamily="34" charset="-120"/>
              </a:rPr>
              <a:t>docs.arkadeos.com · second.tech/docs · docs.spark.money</a:t>
            </a:r>
            <a:endParaRPr lang="en-US" sz="1283" dirty="0"/>
          </a:p>
          <a:p>
            <a:pPr algn="ctr" indent="0" marL="0">
              <a:lnSpc>
                <a:spcPts val="2052"/>
              </a:lnSpc>
              <a:buNone/>
            </a:pPr>
            <a:r>
              <a:rPr lang="en-US" sz="1283" b="1" dirty="0">
                <a:solidFill>
                  <a:srgbClr val="312938">
                    <a:alpha val="99000"/>
                  </a:srgbClr>
                </a:solidFill>
                <a:latin typeface="Wix Madefor Text" pitchFamily="34" charset="0"/>
                <a:ea typeface="Wix Madefor Text" pitchFamily="34" charset="-122"/>
                <a:cs typeface="Wix Madefor Text" pitchFamily="34" charset="-120"/>
              </a:rPr>
              <a:t>@sethforprivacy · cakewallet.com</a:t>
            </a:r>
            <a:endParaRPr lang="en-US" sz="128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2026-06-10T20:38:17Z</dcterms:created>
  <dcterms:modified xsi:type="dcterms:W3CDTF">2026-06-10T20:38:17Z</dcterms:modified>
</cp:coreProperties>
</file>